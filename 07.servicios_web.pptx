
<file path=[Content_Types].xml><?xml version="1.0" encoding="utf-8"?>
<Types xmlns="http://schemas.openxmlformats.org/package/2006/content-types">
  <Default Extension="emf" ContentType="image/x-emf"/>
  <Default Extension="fntdata" ContentType="application/x-fontdata"/>
  <Default Extension="gif" ContentType="image/gi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 id="2147483676" r:id="rId2"/>
    <p:sldMasterId id="2147483678" r:id="rId3"/>
  </p:sldMasterIdLst>
  <p:notesMasterIdLst>
    <p:notesMasterId r:id="rId43"/>
  </p:notesMasterIdLst>
  <p:sldIdLst>
    <p:sldId id="294" r:id="rId4"/>
    <p:sldId id="312" r:id="rId5"/>
    <p:sldId id="471" r:id="rId6"/>
    <p:sldId id="470" r:id="rId7"/>
    <p:sldId id="463" r:id="rId8"/>
    <p:sldId id="462" r:id="rId9"/>
    <p:sldId id="440" r:id="rId10"/>
    <p:sldId id="464" r:id="rId11"/>
    <p:sldId id="445" r:id="rId12"/>
    <p:sldId id="381" r:id="rId13"/>
    <p:sldId id="446" r:id="rId14"/>
    <p:sldId id="465" r:id="rId15"/>
    <p:sldId id="466" r:id="rId16"/>
    <p:sldId id="467" r:id="rId17"/>
    <p:sldId id="468" r:id="rId18"/>
    <p:sldId id="469" r:id="rId19"/>
    <p:sldId id="441" r:id="rId20"/>
    <p:sldId id="447" r:id="rId21"/>
    <p:sldId id="442" r:id="rId22"/>
    <p:sldId id="448" r:id="rId23"/>
    <p:sldId id="371" r:id="rId24"/>
    <p:sldId id="449" r:id="rId25"/>
    <p:sldId id="443" r:id="rId26"/>
    <p:sldId id="311" r:id="rId27"/>
    <p:sldId id="450" r:id="rId28"/>
    <p:sldId id="444" r:id="rId29"/>
    <p:sldId id="451" r:id="rId30"/>
    <p:sldId id="461" r:id="rId31"/>
    <p:sldId id="370" r:id="rId32"/>
    <p:sldId id="452" r:id="rId33"/>
    <p:sldId id="453" r:id="rId34"/>
    <p:sldId id="454" r:id="rId35"/>
    <p:sldId id="455" r:id="rId36"/>
    <p:sldId id="456" r:id="rId37"/>
    <p:sldId id="457" r:id="rId38"/>
    <p:sldId id="458" r:id="rId39"/>
    <p:sldId id="459" r:id="rId40"/>
    <p:sldId id="460" r:id="rId41"/>
    <p:sldId id="308" r:id="rId42"/>
  </p:sldIdLst>
  <p:sldSz cx="9144000" cy="5143500" type="screen16x9"/>
  <p:notesSz cx="6858000" cy="9144000"/>
  <p:embeddedFontLst>
    <p:embeddedFont>
      <p:font typeface="Barlow" panose="00000500000000000000" pitchFamily="2" charset="0"/>
      <p:regular r:id="rId44"/>
      <p:bold r:id="rId45"/>
      <p:italic r:id="rId46"/>
      <p:boldItalic r:id="rId47"/>
    </p:embeddedFont>
    <p:embeddedFont>
      <p:font typeface="Georgia" panose="02040502050405020303" pitchFamily="18" charset="0"/>
      <p:regular r:id="rId48"/>
      <p:bold r:id="rId49"/>
      <p:italic r:id="rId50"/>
      <p:boldItalic r:id="rId51"/>
    </p:embeddedFont>
    <p:embeddedFont>
      <p:font typeface="Montserrat" panose="00000500000000000000" pitchFamily="2" charset="0"/>
      <p:regular r:id="rId52"/>
      <p:bold r:id="rId53"/>
      <p:italic r:id="rId54"/>
      <p:boldItalic r:id="rId55"/>
    </p:embeddedFont>
    <p:embeddedFont>
      <p:font typeface="Proxima Nova" panose="020B0604020202020204" charset="0"/>
      <p:regular r:id="rId56"/>
      <p:bold r:id="rId57"/>
      <p:italic r:id="rId58"/>
      <p:boldItalic r:id="rId59"/>
    </p:embeddedFont>
    <p:embeddedFont>
      <p:font typeface="Proxima Nova Semibold" panose="020B0604020202020204" charset="0"/>
      <p:regular r:id="rId60"/>
      <p:bold r:id="rId61"/>
      <p:boldItalic r:id="rId6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878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B4C306-BC0F-4F53-8816-B8733845CA71}" v="7" dt="2026-09-01T22:53:00.783"/>
  </p1510:revLst>
</p1510:revInfo>
</file>

<file path=ppt/tableStyles.xml><?xml version="1.0" encoding="utf-8"?>
<a:tblStyleLst xmlns:a="http://schemas.openxmlformats.org/drawingml/2006/main" def="{9D15990F-D783-4A15-A11D-9B5CB783B86C}">
  <a:tblStyle styleId="{9D15990F-D783-4A15-A11D-9B5CB783B86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516" autoAdjust="0"/>
  </p:normalViewPr>
  <p:slideViewPr>
    <p:cSldViewPr snapToGrid="0">
      <p:cViewPr varScale="1">
        <p:scale>
          <a:sx n="101" d="100"/>
          <a:sy n="101" d="100"/>
        </p:scale>
        <p:origin x="92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font" Target="fonts/font12.fntdata"/><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font" Target="fonts/font15.fntdata"/><Relationship Id="rId66"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font" Target="fonts/font18.fntdata"/><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notesMaster" Target="notesMasters/notesMaster1.xml"/><Relationship Id="rId48" Type="http://schemas.openxmlformats.org/officeDocument/2006/relationships/font" Target="fonts/font5.fntdata"/><Relationship Id="rId56" Type="http://schemas.openxmlformats.org/officeDocument/2006/relationships/font" Target="fonts/font13.fntdata"/><Relationship Id="rId64"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font" Target="fonts/font8.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font" Target="fonts/font3.fntdata"/><Relationship Id="rId59" Type="http://schemas.openxmlformats.org/officeDocument/2006/relationships/font" Target="fonts/font16.fntdata"/><Relationship Id="rId67" Type="http://schemas.microsoft.com/office/2016/11/relationships/changesInfo" Target="changesInfos/changesInfo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font" Target="fonts/font11.fntdata"/><Relationship Id="rId62" Type="http://schemas.openxmlformats.org/officeDocument/2006/relationships/font" Target="fonts/font19.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font" Target="fonts/font6.fntdata"/><Relationship Id="rId57" Type="http://schemas.openxmlformats.org/officeDocument/2006/relationships/font" Target="fonts/font14.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font" Target="fonts/font1.fntdata"/><Relationship Id="rId52" Type="http://schemas.openxmlformats.org/officeDocument/2006/relationships/font" Target="fonts/font9.fntdata"/><Relationship Id="rId60" Type="http://schemas.openxmlformats.org/officeDocument/2006/relationships/font" Target="fonts/font17.fntdata"/><Relationship Id="rId65"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bey Muñoz" userId="b7e811e8891ccd42" providerId="LiveId" clId="{2482167B-ADD3-4E68-AB8B-ADE9CECE27D0}"/>
    <pc:docChg chg="addSld delSld modSld">
      <pc:chgData name="Norbey Muñoz" userId="b7e811e8891ccd42" providerId="LiveId" clId="{2482167B-ADD3-4E68-AB8B-ADE9CECE27D0}" dt="2026-09-01T22:53:29.691" v="96" actId="207"/>
      <pc:docMkLst>
        <pc:docMk/>
      </pc:docMkLst>
      <pc:sldChg chg="modSp mod">
        <pc:chgData name="Norbey Muñoz" userId="b7e811e8891ccd42" providerId="LiveId" clId="{2482167B-ADD3-4E68-AB8B-ADE9CECE27D0}" dt="2026-08-31T04:26:35.077" v="1" actId="20577"/>
        <pc:sldMkLst>
          <pc:docMk/>
          <pc:sldMk cId="0" sldId="294"/>
        </pc:sldMkLst>
        <pc:spChg chg="mod">
          <ac:chgData name="Norbey Muñoz" userId="b7e811e8891ccd42" providerId="LiveId" clId="{2482167B-ADD3-4E68-AB8B-ADE9CECE27D0}" dt="2026-08-31T04:26:35.077" v="1" actId="20577"/>
          <ac:spMkLst>
            <pc:docMk/>
            <pc:sldMk cId="0" sldId="294"/>
            <ac:spMk id="3" creationId="{F6E5FE4C-F0A4-04D9-BDF6-552D3C5B8C83}"/>
          </ac:spMkLst>
        </pc:spChg>
      </pc:sldChg>
      <pc:sldChg chg="modSp mod">
        <pc:chgData name="Norbey Muñoz" userId="b7e811e8891ccd42" providerId="LiveId" clId="{2482167B-ADD3-4E68-AB8B-ADE9CECE27D0}" dt="2026-09-01T22:49:36.490" v="78" actId="20577"/>
        <pc:sldMkLst>
          <pc:docMk/>
          <pc:sldMk cId="2012777000" sldId="312"/>
        </pc:sldMkLst>
        <pc:spChg chg="mod">
          <ac:chgData name="Norbey Muñoz" userId="b7e811e8891ccd42" providerId="LiveId" clId="{2482167B-ADD3-4E68-AB8B-ADE9CECE27D0}" dt="2026-09-01T22:47:20.609" v="30" actId="20577"/>
          <ac:spMkLst>
            <pc:docMk/>
            <pc:sldMk cId="2012777000" sldId="312"/>
            <ac:spMk id="191" creationId="{00000000-0000-0000-0000-000000000000}"/>
          </ac:spMkLst>
        </pc:spChg>
        <pc:spChg chg="mod">
          <ac:chgData name="Norbey Muñoz" userId="b7e811e8891ccd42" providerId="LiveId" clId="{2482167B-ADD3-4E68-AB8B-ADE9CECE27D0}" dt="2026-09-01T22:49:36.490" v="78" actId="20577"/>
          <ac:spMkLst>
            <pc:docMk/>
            <pc:sldMk cId="2012777000" sldId="312"/>
            <ac:spMk id="192" creationId="{00000000-0000-0000-0000-000000000000}"/>
          </ac:spMkLst>
        </pc:spChg>
      </pc:sldChg>
      <pc:sldChg chg="addSp modSp add del mod">
        <pc:chgData name="Norbey Muñoz" userId="b7e811e8891ccd42" providerId="LiveId" clId="{2482167B-ADD3-4E68-AB8B-ADE9CECE27D0}" dt="2026-09-01T22:53:29.691" v="96" actId="207"/>
        <pc:sldMkLst>
          <pc:docMk/>
          <pc:sldMk cId="2756704084" sldId="381"/>
        </pc:sldMkLst>
        <pc:spChg chg="add mod">
          <ac:chgData name="Norbey Muñoz" userId="b7e811e8891ccd42" providerId="LiveId" clId="{2482167B-ADD3-4E68-AB8B-ADE9CECE27D0}" dt="2026-09-01T22:53:29.691" v="96" actId="207"/>
          <ac:spMkLst>
            <pc:docMk/>
            <pc:sldMk cId="2756704084" sldId="381"/>
            <ac:spMk id="4" creationId="{1596EFC0-02B4-4740-2738-900F904A483C}"/>
          </ac:spMkLst>
        </pc:spChg>
      </pc:sldChg>
      <pc:sldChg chg="add">
        <pc:chgData name="Norbey Muñoz" userId="b7e811e8891ccd42" providerId="LiveId" clId="{2482167B-ADD3-4E68-AB8B-ADE9CECE27D0}" dt="2026-09-01T22:47:08.660" v="2" actId="2890"/>
        <pc:sldMkLst>
          <pc:docMk/>
          <pc:sldMk cId="3766228925" sldId="470"/>
        </pc:sldMkLst>
      </pc:sldChg>
      <pc:sldChg chg="modSp add mod">
        <pc:chgData name="Norbey Muñoz" userId="b7e811e8891ccd42" providerId="LiveId" clId="{2482167B-ADD3-4E68-AB8B-ADE9CECE27D0}" dt="2026-09-01T22:51:01.767" v="87" actId="123"/>
        <pc:sldMkLst>
          <pc:docMk/>
          <pc:sldMk cId="20203272" sldId="471"/>
        </pc:sldMkLst>
        <pc:spChg chg="mod">
          <ac:chgData name="Norbey Muñoz" userId="b7e811e8891ccd42" providerId="LiveId" clId="{2482167B-ADD3-4E68-AB8B-ADE9CECE27D0}" dt="2026-09-01T22:51:01.767" v="87" actId="123"/>
          <ac:spMkLst>
            <pc:docMk/>
            <pc:sldMk cId="20203272" sldId="471"/>
            <ac:spMk id="192" creationId="{4EAD0B76-F06A-6BF8-C2F6-E89BCDADD057}"/>
          </ac:spMkLst>
        </pc:spChg>
      </pc:sldChg>
      <pc:sldChg chg="add del">
        <pc:chgData name="Norbey Muñoz" userId="b7e811e8891ccd42" providerId="LiveId" clId="{2482167B-ADD3-4E68-AB8B-ADE9CECE27D0}" dt="2026-09-01T22:52:41.785" v="90" actId="2696"/>
        <pc:sldMkLst>
          <pc:docMk/>
          <pc:sldMk cId="1271698226" sldId="472"/>
        </pc:sldMkLst>
      </pc:sldChg>
    </pc:docChg>
  </pc:docChgLst>
  <pc:docChgLst>
    <pc:chgData name="Norbey Muñoz" userId="b7e811e8891ccd42" providerId="LiveId" clId="{DBF52696-11A3-4849-9B09-897E0DFE676A}"/>
    <pc:docChg chg="undo custSel modSld">
      <pc:chgData name="Norbey Muñoz" userId="b7e811e8891ccd42" providerId="LiveId" clId="{DBF52696-11A3-4849-9B09-897E0DFE676A}" dt="2026-09-02T16:07:39.805" v="131" actId="14100"/>
      <pc:docMkLst>
        <pc:docMk/>
      </pc:docMkLst>
      <pc:sldChg chg="modSp mod">
        <pc:chgData name="Norbey Muñoz" userId="b7e811e8891ccd42" providerId="LiveId" clId="{DBF52696-11A3-4849-9B09-897E0DFE676A}" dt="2026-09-02T15:52:09.325" v="20" actId="20577"/>
        <pc:sldMkLst>
          <pc:docMk/>
          <pc:sldMk cId="0" sldId="294"/>
        </pc:sldMkLst>
        <pc:spChg chg="mod">
          <ac:chgData name="Norbey Muñoz" userId="b7e811e8891ccd42" providerId="LiveId" clId="{DBF52696-11A3-4849-9B09-897E0DFE676A}" dt="2026-09-02T15:52:09.325" v="20" actId="20577"/>
          <ac:spMkLst>
            <pc:docMk/>
            <pc:sldMk cId="0" sldId="294"/>
            <ac:spMk id="98" creationId="{00000000-0000-0000-0000-000000000000}"/>
          </ac:spMkLst>
        </pc:spChg>
      </pc:sldChg>
      <pc:sldChg chg="modSp mod">
        <pc:chgData name="Norbey Muñoz" userId="b7e811e8891ccd42" providerId="LiveId" clId="{DBF52696-11A3-4849-9B09-897E0DFE676A}" dt="2026-09-02T15:53:01.192" v="22" actId="1076"/>
        <pc:sldMkLst>
          <pc:docMk/>
          <pc:sldMk cId="2756704084" sldId="381"/>
        </pc:sldMkLst>
        <pc:spChg chg="mod">
          <ac:chgData name="Norbey Muñoz" userId="b7e811e8891ccd42" providerId="LiveId" clId="{DBF52696-11A3-4849-9B09-897E0DFE676A}" dt="2026-09-02T15:53:01.192" v="22" actId="1076"/>
          <ac:spMkLst>
            <pc:docMk/>
            <pc:sldMk cId="2756704084" sldId="381"/>
            <ac:spMk id="26" creationId="{D99A1DD2-F962-4CEC-8850-FCCD8B1BDE6F}"/>
          </ac:spMkLst>
        </pc:spChg>
      </pc:sldChg>
      <pc:sldChg chg="addSp modSp mod modAnim">
        <pc:chgData name="Norbey Muñoz" userId="b7e811e8891ccd42" providerId="LiveId" clId="{DBF52696-11A3-4849-9B09-897E0DFE676A}" dt="2026-09-02T16:07:39.805" v="131" actId="14100"/>
        <pc:sldMkLst>
          <pc:docMk/>
          <pc:sldMk cId="3956243121" sldId="468"/>
        </pc:sldMkLst>
        <pc:spChg chg="add mod">
          <ac:chgData name="Norbey Muñoz" userId="b7e811e8891ccd42" providerId="LiveId" clId="{DBF52696-11A3-4849-9B09-897E0DFE676A}" dt="2026-09-02T16:03:10.784" v="93" actId="120"/>
          <ac:spMkLst>
            <pc:docMk/>
            <pc:sldMk cId="3956243121" sldId="468"/>
            <ac:spMk id="2" creationId="{CF79727E-CA6B-EBEB-7B23-A609E92BAF2C}"/>
          </ac:spMkLst>
        </pc:spChg>
        <pc:spChg chg="add mod">
          <ac:chgData name="Norbey Muñoz" userId="b7e811e8891ccd42" providerId="LiveId" clId="{DBF52696-11A3-4849-9B09-897E0DFE676A}" dt="2026-09-02T16:03:07.193" v="92" actId="120"/>
          <ac:spMkLst>
            <pc:docMk/>
            <pc:sldMk cId="3956243121" sldId="468"/>
            <ac:spMk id="3" creationId="{AC339A17-B955-0055-607E-A5FE953EBC8D}"/>
          </ac:spMkLst>
        </pc:spChg>
        <pc:spChg chg="add mod">
          <ac:chgData name="Norbey Muñoz" userId="b7e811e8891ccd42" providerId="LiveId" clId="{DBF52696-11A3-4849-9B09-897E0DFE676A}" dt="2026-09-02T16:07:23.773" v="128" actId="14100"/>
          <ac:spMkLst>
            <pc:docMk/>
            <pc:sldMk cId="3956243121" sldId="468"/>
            <ac:spMk id="4" creationId="{ED713FB3-87F8-11FA-FC05-965DC6066379}"/>
          </ac:spMkLst>
        </pc:spChg>
        <pc:spChg chg="add mod">
          <ac:chgData name="Norbey Muñoz" userId="b7e811e8891ccd42" providerId="LiveId" clId="{DBF52696-11A3-4849-9B09-897E0DFE676A}" dt="2026-09-02T16:07:28.773" v="129" actId="14100"/>
          <ac:spMkLst>
            <pc:docMk/>
            <pc:sldMk cId="3956243121" sldId="468"/>
            <ac:spMk id="5" creationId="{523FBB4C-E1D2-6FB8-6EB9-9E1FC5DA93A7}"/>
          </ac:spMkLst>
        </pc:spChg>
        <pc:spChg chg="add mod">
          <ac:chgData name="Norbey Muñoz" userId="b7e811e8891ccd42" providerId="LiveId" clId="{DBF52696-11A3-4849-9B09-897E0DFE676A}" dt="2026-09-02T16:03:18.026" v="94" actId="121"/>
          <ac:spMkLst>
            <pc:docMk/>
            <pc:sldMk cId="3956243121" sldId="468"/>
            <ac:spMk id="6" creationId="{D59EAC2F-8806-2F3B-9782-E9592258B4F5}"/>
          </ac:spMkLst>
        </pc:spChg>
        <pc:spChg chg="add mod">
          <ac:chgData name="Norbey Muñoz" userId="b7e811e8891ccd42" providerId="LiveId" clId="{DBF52696-11A3-4849-9B09-897E0DFE676A}" dt="2026-09-02T16:03:52.673" v="98" actId="20577"/>
          <ac:spMkLst>
            <pc:docMk/>
            <pc:sldMk cId="3956243121" sldId="468"/>
            <ac:spMk id="7" creationId="{8E7412D2-0A21-2D5F-6EF3-42D3E32CF0C7}"/>
          </ac:spMkLst>
        </pc:spChg>
        <pc:spChg chg="add mod">
          <ac:chgData name="Norbey Muñoz" userId="b7e811e8891ccd42" providerId="LiveId" clId="{DBF52696-11A3-4849-9B09-897E0DFE676A}" dt="2026-09-02T16:07:35.823" v="130" actId="14100"/>
          <ac:spMkLst>
            <pc:docMk/>
            <pc:sldMk cId="3956243121" sldId="468"/>
            <ac:spMk id="8" creationId="{3ADA462E-4CB6-2E2B-0FCC-5846A4E6FC22}"/>
          </ac:spMkLst>
        </pc:spChg>
        <pc:spChg chg="add mod">
          <ac:chgData name="Norbey Muñoz" userId="b7e811e8891ccd42" providerId="LiveId" clId="{DBF52696-11A3-4849-9B09-897E0DFE676A}" dt="2026-09-02T16:07:39.805" v="131" actId="14100"/>
          <ac:spMkLst>
            <pc:docMk/>
            <pc:sldMk cId="3956243121" sldId="468"/>
            <ac:spMk id="9" creationId="{2CC0AD83-698E-0F94-92C0-A9F05C1030C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90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1" i="0" u="none" strike="noStrike" cap="none">
                <a:solidFill>
                  <a:srgbClr val="000000"/>
                </a:solidFill>
                <a:latin typeface="Arial"/>
                <a:ea typeface="Arial"/>
                <a:cs typeface="Arial"/>
                <a:sym typeface="Arial"/>
              </a:rPr>
              <a:t>1</a:t>
            </a:fld>
            <a:endParaRPr sz="1200" b="1"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7766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6174B80F-80D0-CAF4-8B54-7BED2A2B3FDC}"/>
            </a:ext>
          </a:extLst>
        </p:cNvPr>
        <p:cNvGrpSpPr/>
        <p:nvPr/>
      </p:nvGrpSpPr>
      <p:grpSpPr>
        <a:xfrm>
          <a:off x="0" y="0"/>
          <a:ext cx="0" cy="0"/>
          <a:chOff x="0" y="0"/>
          <a:chExt cx="0" cy="0"/>
        </a:xfrm>
      </p:grpSpPr>
      <p:sp>
        <p:nvSpPr>
          <p:cNvPr id="188" name="Google Shape;188;ga9fa940987_3_203:notes">
            <a:extLst>
              <a:ext uri="{FF2B5EF4-FFF2-40B4-BE49-F238E27FC236}">
                <a16:creationId xmlns:a16="http://schemas.microsoft.com/office/drawing/2014/main" id="{C8882BAA-33A6-7F1B-B55E-3E02C08931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a:extLst>
              <a:ext uri="{FF2B5EF4-FFF2-40B4-BE49-F238E27FC236}">
                <a16:creationId xmlns:a16="http://schemas.microsoft.com/office/drawing/2014/main" id="{74E601A4-5D1F-355B-60ED-9D49229B8F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63111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02E17A53-0EB9-E898-AF1B-D2772642626C}"/>
            </a:ext>
          </a:extLst>
        </p:cNvPr>
        <p:cNvGrpSpPr/>
        <p:nvPr/>
      </p:nvGrpSpPr>
      <p:grpSpPr>
        <a:xfrm>
          <a:off x="0" y="0"/>
          <a:ext cx="0" cy="0"/>
          <a:chOff x="0" y="0"/>
          <a:chExt cx="0" cy="0"/>
        </a:xfrm>
      </p:grpSpPr>
      <p:sp>
        <p:nvSpPr>
          <p:cNvPr id="188" name="Google Shape;188;ga9fa940987_3_203:notes">
            <a:extLst>
              <a:ext uri="{FF2B5EF4-FFF2-40B4-BE49-F238E27FC236}">
                <a16:creationId xmlns:a16="http://schemas.microsoft.com/office/drawing/2014/main" id="{B4474F8D-1CFF-5790-FF1E-AC34C13E63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a:extLst>
              <a:ext uri="{FF2B5EF4-FFF2-40B4-BE49-F238E27FC236}">
                <a16:creationId xmlns:a16="http://schemas.microsoft.com/office/drawing/2014/main" id="{39AE140D-5311-FBE5-C26C-485CC26C54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076405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Un camarero toma el pedido del cliente, que luego se transmite al chef. Una vez que el chef termina la comida, el camarero le lleva la comida al cliente. Del mismo modo, una API recibe una solicitud de una aplicación. A continuación, interactúa con un servidor o origen de datos externo para recopilar y procesar una respuesta, que luego se devuelve a la aplicación.</a:t>
            </a:r>
            <a:endParaRPr dirty="0"/>
          </a:p>
        </p:txBody>
      </p:sp>
    </p:spTree>
    <p:extLst>
      <p:ext uri="{BB962C8B-B14F-4D97-AF65-F5344CB8AC3E}">
        <p14:creationId xmlns:p14="http://schemas.microsoft.com/office/powerpoint/2010/main" val="14723565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17672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25088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0" i="0" dirty="0">
                <a:solidFill>
                  <a:srgbClr val="242424"/>
                </a:solidFill>
                <a:effectLst/>
                <a:latin typeface="source-serif-pro"/>
              </a:rPr>
              <a:t>En los últimos años, la popularidad y el uso de las API han aumentado exponencialmente. Un estudio encontró que dos tercios de los desarrolladores esperaban aumentar su uso de API en 2020. Además, las empresas de todos los sectores siguen desarrollando y utilizando las API como parte fundamental de su estrategia. Al exponer servicios a menudo complejos como código simplificado, las API son fáciles de integrar y los casos de uso potenciales son ilimitados.</a:t>
            </a:r>
            <a:endParaRPr dirty="0"/>
          </a:p>
        </p:txBody>
      </p:sp>
    </p:spTree>
    <p:extLst>
      <p:ext uri="{BB962C8B-B14F-4D97-AF65-F5344CB8AC3E}">
        <p14:creationId xmlns:p14="http://schemas.microsoft.com/office/powerpoint/2010/main" val="22198377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51949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665967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14155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03178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err="1"/>
              <a:t>Otras</a:t>
            </a:r>
            <a:r>
              <a:rPr lang="en-US" dirty="0"/>
              <a:t>: RPC, </a:t>
            </a:r>
            <a:r>
              <a:rPr lang="en-US" dirty="0" err="1"/>
              <a:t>gRPC</a:t>
            </a:r>
            <a:r>
              <a:rPr lang="en-US" dirty="0"/>
              <a:t>, </a:t>
            </a:r>
            <a:r>
              <a:rPr lang="en-US" b="0" i="0" dirty="0">
                <a:solidFill>
                  <a:srgbClr val="001E00"/>
                </a:solidFill>
                <a:effectLst/>
                <a:latin typeface="Neuemontreal"/>
              </a:rPr>
              <a:t>Apache Thrift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b="0" i="0" dirty="0">
              <a:solidFill>
                <a:srgbClr val="001E00"/>
              </a:solidFill>
              <a:effectLst/>
              <a:latin typeface="Neuemontre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0" i="0" dirty="0">
                <a:solidFill>
                  <a:srgbClr val="001E00"/>
                </a:solidFill>
                <a:effectLst/>
                <a:latin typeface="Neuemontreal"/>
              </a:rPr>
              <a:t>https://www.upwork.com/resources/what-is-an-api </a:t>
            </a:r>
          </a:p>
        </p:txBody>
      </p:sp>
    </p:spTree>
    <p:extLst>
      <p:ext uri="{BB962C8B-B14F-4D97-AF65-F5344CB8AC3E}">
        <p14:creationId xmlns:p14="http://schemas.microsoft.com/office/powerpoint/2010/main" val="2004658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s-ES" b="0" i="0" dirty="0">
                <a:effectLst/>
                <a:latin typeface="-apple-system"/>
              </a:rPr>
              <a:t>En el ámbito dinámico del desarrollo de software, un conocimiento firme de los estilos arquitectónicos de las API es la clave para crear aplicaciones resistentes y de alto rendimiento.</a:t>
            </a:r>
            <a:br>
              <a:rPr lang="es-ES" b="0" i="0" dirty="0">
                <a:effectLst/>
                <a:latin typeface="-apple-system"/>
              </a:rPr>
            </a:br>
            <a:br>
              <a:rPr lang="es-ES" b="0" i="0" dirty="0">
                <a:effectLst/>
                <a:latin typeface="-apple-system"/>
              </a:rPr>
            </a:br>
            <a:r>
              <a:rPr lang="es-ES" b="0" i="0" dirty="0">
                <a:effectLst/>
                <a:latin typeface="-apple-system"/>
              </a:rPr>
              <a:t>Estos estilos dictan cómo fluyen la información y la funcionalidad entre los sistemas. </a:t>
            </a:r>
            <a:br>
              <a:rPr lang="es-ES" b="0" i="0" dirty="0">
                <a:effectLst/>
                <a:latin typeface="-apple-system"/>
              </a:rPr>
            </a:br>
            <a:br>
              <a:rPr lang="es-ES" b="0" i="0" dirty="0">
                <a:effectLst/>
                <a:latin typeface="-apple-system"/>
              </a:rPr>
            </a:br>
            <a:r>
              <a:rPr lang="es-ES" b="0" i="0" dirty="0">
                <a:effectLst/>
                <a:latin typeface="-apple-system"/>
              </a:rPr>
              <a:t>1. SOAP (Simple </a:t>
            </a:r>
            <a:r>
              <a:rPr lang="es-ES" b="0" i="0" dirty="0" err="1">
                <a:effectLst/>
                <a:latin typeface="-apple-system"/>
              </a:rPr>
              <a:t>Object</a:t>
            </a:r>
            <a:r>
              <a:rPr lang="es-ES" b="0" i="0" dirty="0">
                <a:effectLst/>
                <a:latin typeface="-apple-system"/>
              </a:rPr>
              <a:t> Access </a:t>
            </a:r>
            <a:r>
              <a:rPr lang="es-ES" b="0" i="0" dirty="0" err="1">
                <a:effectLst/>
                <a:latin typeface="-apple-system"/>
              </a:rPr>
              <a:t>Protocol</a:t>
            </a:r>
            <a:r>
              <a:rPr lang="es-ES" b="0" i="0" dirty="0">
                <a:effectLst/>
                <a:latin typeface="-apple-system"/>
              </a:rPr>
              <a:t>): 🧼 - Facilitando el intercambio de datos estructurados en servicios web, SOAP utiliza XML y se puede implementar sobre HTTP u otros protocolos de transporte.</a:t>
            </a:r>
            <a:br>
              <a:rPr lang="es-ES" b="0" i="0" dirty="0">
                <a:effectLst/>
                <a:latin typeface="-apple-system"/>
              </a:rPr>
            </a:br>
            <a:br>
              <a:rPr lang="es-ES" b="0" i="0" dirty="0">
                <a:effectLst/>
                <a:latin typeface="-apple-system"/>
              </a:rPr>
            </a:br>
            <a:r>
              <a:rPr lang="es-ES" b="0" i="0" dirty="0">
                <a:effectLst/>
                <a:latin typeface="-apple-system"/>
              </a:rPr>
              <a:t>2. REST (</a:t>
            </a:r>
            <a:r>
              <a:rPr lang="es-ES" b="0" i="0" dirty="0" err="1">
                <a:effectLst/>
                <a:latin typeface="-apple-system"/>
              </a:rPr>
              <a:t>Representational</a:t>
            </a:r>
            <a:r>
              <a:rPr lang="es-ES" b="0" i="0" dirty="0">
                <a:effectLst/>
                <a:latin typeface="-apple-system"/>
              </a:rPr>
              <a:t> </a:t>
            </a:r>
            <a:r>
              <a:rPr lang="es-ES" b="0" i="0" dirty="0" err="1">
                <a:effectLst/>
                <a:latin typeface="-apple-system"/>
              </a:rPr>
              <a:t>State</a:t>
            </a:r>
            <a:r>
              <a:rPr lang="es-ES" b="0" i="0" dirty="0">
                <a:effectLst/>
                <a:latin typeface="-apple-system"/>
              </a:rPr>
              <a:t> Transfer): 🌐 - Reconocido por su simplicidad y escalabilidad, REST aprovecha el poder de los métodos HTTP (GET, POST, PUT, DELETE) para interactuar con los recursos.</a:t>
            </a:r>
            <a:br>
              <a:rPr lang="es-ES" b="0" i="0" dirty="0">
                <a:effectLst/>
                <a:latin typeface="-apple-system"/>
              </a:rPr>
            </a:br>
            <a:br>
              <a:rPr lang="es-ES" b="0" i="0" dirty="0">
                <a:effectLst/>
                <a:latin typeface="-apple-system"/>
              </a:rPr>
            </a:br>
            <a:r>
              <a:rPr lang="es-ES" b="0" i="0" dirty="0">
                <a:effectLst/>
                <a:latin typeface="-apple-system"/>
              </a:rPr>
              <a:t>3. </a:t>
            </a:r>
            <a:r>
              <a:rPr lang="es-ES" b="0" i="0" dirty="0" err="1">
                <a:effectLst/>
                <a:latin typeface="-apple-system"/>
              </a:rPr>
              <a:t>GraphQL</a:t>
            </a:r>
            <a:r>
              <a:rPr lang="es-ES" b="0" i="0" dirty="0">
                <a:effectLst/>
                <a:latin typeface="-apple-system"/>
              </a:rPr>
              <a:t>: 📊 - Un lenguaje de consulta innovador para las API, </a:t>
            </a:r>
            <a:r>
              <a:rPr lang="es-ES" b="0" i="0" dirty="0" err="1">
                <a:effectLst/>
                <a:latin typeface="-apple-system"/>
              </a:rPr>
              <a:t>GraphQL</a:t>
            </a:r>
            <a:r>
              <a:rPr lang="es-ES" b="0" i="0" dirty="0">
                <a:effectLst/>
                <a:latin typeface="-apple-system"/>
              </a:rPr>
              <a:t> permite a los clientes solicitar con precisión los datos que necesitan, ofreciendo flexibilidad y eficiencia.</a:t>
            </a:r>
            <a:br>
              <a:rPr lang="es-ES" b="0" i="0" dirty="0">
                <a:effectLst/>
                <a:latin typeface="-apple-system"/>
              </a:rPr>
            </a:br>
            <a:br>
              <a:rPr lang="es-ES" b="0" i="0" dirty="0">
                <a:effectLst/>
                <a:latin typeface="-apple-system"/>
              </a:rPr>
            </a:br>
            <a:r>
              <a:rPr lang="es-ES" b="0" i="0" dirty="0">
                <a:effectLst/>
                <a:latin typeface="-apple-system"/>
              </a:rPr>
              <a:t>4. </a:t>
            </a:r>
            <a:r>
              <a:rPr lang="es-ES" b="0" i="0" dirty="0" err="1">
                <a:effectLst/>
                <a:latin typeface="-apple-system"/>
              </a:rPr>
              <a:t>gRPC</a:t>
            </a:r>
            <a:r>
              <a:rPr lang="es-ES" b="0" i="0" dirty="0">
                <a:effectLst/>
                <a:latin typeface="-apple-system"/>
              </a:rPr>
              <a:t> (Llamada a procedimiento remoto de Google): 📡 - Desarrollado por Google, </a:t>
            </a:r>
            <a:r>
              <a:rPr lang="es-ES" b="0" i="0" dirty="0" err="1">
                <a:effectLst/>
                <a:latin typeface="-apple-system"/>
              </a:rPr>
              <a:t>gRPC</a:t>
            </a:r>
            <a:r>
              <a:rPr lang="es-ES" b="0" i="0" dirty="0">
                <a:effectLst/>
                <a:latin typeface="-apple-system"/>
              </a:rPr>
              <a:t> es un marco RPC de alto rendimiento que utiliza búferes de protocolo y HTTP/2 para una comunicación rápida.</a:t>
            </a:r>
            <a:br>
              <a:rPr lang="es-ES" b="0" i="0" dirty="0">
                <a:effectLst/>
                <a:latin typeface="-apple-system"/>
              </a:rPr>
            </a:br>
            <a:br>
              <a:rPr lang="es-ES" b="0" i="0" dirty="0">
                <a:effectLst/>
                <a:latin typeface="-apple-system"/>
              </a:rPr>
            </a:br>
            <a:r>
              <a:rPr lang="es-ES" b="0" i="0" dirty="0">
                <a:effectLst/>
                <a:latin typeface="-apple-system"/>
              </a:rPr>
              <a:t>5. </a:t>
            </a:r>
            <a:r>
              <a:rPr lang="es-ES" b="0" i="0" dirty="0" err="1">
                <a:effectLst/>
                <a:latin typeface="-apple-system"/>
              </a:rPr>
              <a:t>WebSocket</a:t>
            </a:r>
            <a:r>
              <a:rPr lang="es-ES" b="0" i="0" dirty="0">
                <a:effectLst/>
                <a:latin typeface="-apple-system"/>
              </a:rPr>
              <a:t>: 🌐 - Al permitir la comunicación bidireccional en tiempo real, </a:t>
            </a:r>
            <a:r>
              <a:rPr lang="es-ES" b="0" i="0" dirty="0" err="1">
                <a:effectLst/>
                <a:latin typeface="-apple-system"/>
              </a:rPr>
              <a:t>WebSocket</a:t>
            </a:r>
            <a:r>
              <a:rPr lang="es-ES" b="0" i="0" dirty="0">
                <a:effectLst/>
                <a:latin typeface="-apple-system"/>
              </a:rPr>
              <a:t> es ideal para aplicaciones interactivas, lo que garantiza experiencias de usuario perfectas.</a:t>
            </a:r>
            <a:br>
              <a:rPr lang="es-ES" b="0" i="0" dirty="0">
                <a:effectLst/>
                <a:latin typeface="-apple-system"/>
              </a:rPr>
            </a:br>
            <a:br>
              <a:rPr lang="es-ES" b="0" i="0" dirty="0">
                <a:effectLst/>
                <a:latin typeface="-apple-system"/>
              </a:rPr>
            </a:br>
            <a:r>
              <a:rPr lang="es-ES" b="0" i="0" dirty="0">
                <a:effectLst/>
                <a:latin typeface="-apple-system"/>
              </a:rPr>
              <a:t>6. </a:t>
            </a:r>
            <a:r>
              <a:rPr lang="es-ES" b="0" i="0" dirty="0" err="1">
                <a:effectLst/>
                <a:latin typeface="-apple-system"/>
              </a:rPr>
              <a:t>Webhook</a:t>
            </a:r>
            <a:r>
              <a:rPr lang="es-ES" b="0" i="0" dirty="0">
                <a:effectLst/>
                <a:latin typeface="-apple-system"/>
              </a:rPr>
              <a:t>: 📬 - Un mecanismo de comunicación basado en eventos, los </a:t>
            </a:r>
            <a:r>
              <a:rPr lang="es-ES" b="0" i="0" dirty="0" err="1">
                <a:effectLst/>
                <a:latin typeface="-apple-system"/>
              </a:rPr>
              <a:t>Webhooks</a:t>
            </a:r>
            <a:r>
              <a:rPr lang="es-ES" b="0" i="0" dirty="0">
                <a:effectLst/>
                <a:latin typeface="-apple-system"/>
              </a:rPr>
              <a:t> activan un servidor para enviar una solicitud POST a una URL específica cuando ocurren eventos específicos, lo que permite la integración y la automatización.</a:t>
            </a:r>
            <a:br>
              <a:rPr lang="es-ES" b="0" i="0" dirty="0">
                <a:effectLst/>
                <a:latin typeface="-apple-system"/>
              </a:rPr>
            </a:br>
            <a:br>
              <a:rPr lang="es-ES" b="0" i="0" dirty="0">
                <a:effectLst/>
                <a:latin typeface="-apple-system"/>
              </a:rPr>
            </a:br>
            <a:r>
              <a:rPr lang="es-ES" b="0" i="0" dirty="0">
                <a:effectLst/>
                <a:latin typeface="-apple-system"/>
              </a:rPr>
              <a:t>7. MQTT (Transporte de telemetría de cola de mensajes): 🌐 - Diseñado para IoT y condiciones de red desafiantes, MQTT sobresale en entornos de bajo ancho de banda y alta latencia con su eficiente mensajería de publicación-suscripción.</a:t>
            </a:r>
            <a:br>
              <a:rPr lang="es-ES" b="0" i="0" dirty="0">
                <a:effectLst/>
                <a:latin typeface="-apple-system"/>
              </a:rPr>
            </a:br>
            <a:br>
              <a:rPr lang="es-ES" b="0" i="0" dirty="0">
                <a:effectLst/>
                <a:latin typeface="-apple-system"/>
              </a:rPr>
            </a:br>
            <a:r>
              <a:rPr lang="es-ES" b="0" i="0" dirty="0">
                <a:effectLst/>
                <a:latin typeface="-apple-system"/>
              </a:rPr>
              <a:t>8. AMQP (</a:t>
            </a:r>
            <a:r>
              <a:rPr lang="es-ES" b="0" i="0" dirty="0" err="1">
                <a:effectLst/>
                <a:latin typeface="-apple-system"/>
              </a:rPr>
              <a:t>Advanced</a:t>
            </a:r>
            <a:r>
              <a:rPr lang="es-ES" b="0" i="0" dirty="0">
                <a:effectLst/>
                <a:latin typeface="-apple-system"/>
              </a:rPr>
              <a:t> </a:t>
            </a:r>
            <a:r>
              <a:rPr lang="es-ES" b="0" i="0" dirty="0" err="1">
                <a:effectLst/>
                <a:latin typeface="-apple-system"/>
              </a:rPr>
              <a:t>Message</a:t>
            </a:r>
            <a:r>
              <a:rPr lang="es-ES" b="0" i="0" dirty="0">
                <a:effectLst/>
                <a:latin typeface="-apple-system"/>
              </a:rPr>
              <a:t> </a:t>
            </a:r>
            <a:r>
              <a:rPr lang="es-ES" b="0" i="0" dirty="0" err="1">
                <a:effectLst/>
                <a:latin typeface="-apple-system"/>
              </a:rPr>
              <a:t>Queue</a:t>
            </a:r>
            <a:r>
              <a:rPr lang="es-ES" b="0" i="0" dirty="0">
                <a:effectLst/>
                <a:latin typeface="-apple-system"/>
              </a:rPr>
              <a:t> Server): 💌 - Al ofrecer funciones avanzadas para la cola de mensajes, el enrutamiento y la confiabilidad, AMQP mejora los sistemas distribuidos.</a:t>
            </a:r>
            <a:br>
              <a:rPr lang="es-ES" b="0" i="0" dirty="0">
                <a:effectLst/>
                <a:latin typeface="-apple-system"/>
              </a:rPr>
            </a:br>
            <a:br>
              <a:rPr lang="es-ES" b="0" i="0" dirty="0">
                <a:effectLst/>
                <a:latin typeface="-apple-system"/>
              </a:rPr>
            </a:br>
            <a:r>
              <a:rPr lang="es-ES" b="0" i="0" dirty="0">
                <a:effectLst/>
                <a:latin typeface="-apple-system"/>
              </a:rPr>
              <a:t>Cada estilo arquitectónico cuenta con fortalezas y aplicaciones únicas. El arte está en seleccionar el perfecto para tu proyecto.</a:t>
            </a:r>
            <a:endParaRPr lang="en-US" b="0" i="0" dirty="0">
              <a:solidFill>
                <a:srgbClr val="001E00"/>
              </a:solidFill>
              <a:effectLst/>
              <a:latin typeface="Neuemontreal"/>
            </a:endParaRPr>
          </a:p>
        </p:txBody>
      </p:sp>
    </p:spTree>
    <p:extLst>
      <p:ext uri="{BB962C8B-B14F-4D97-AF65-F5344CB8AC3E}">
        <p14:creationId xmlns:p14="http://schemas.microsoft.com/office/powerpoint/2010/main" val="36819879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b="0" i="0" dirty="0">
              <a:solidFill>
                <a:srgbClr val="001E00"/>
              </a:solidFill>
              <a:effectLst/>
              <a:latin typeface="Neuemontreal"/>
            </a:endParaRPr>
          </a:p>
        </p:txBody>
      </p:sp>
    </p:spTree>
    <p:extLst>
      <p:ext uri="{BB962C8B-B14F-4D97-AF65-F5344CB8AC3E}">
        <p14:creationId xmlns:p14="http://schemas.microsoft.com/office/powerpoint/2010/main" val="2096063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61780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5109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32199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84721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53365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93093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74390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82390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86799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48410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64161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11684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05123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04216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99169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10406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19847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92612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149837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https://developers.thecatapi.com/view-account/ylX4blBYT9FaoVd6OhvR?report=bOoHBz-8t</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1764579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79134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10303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63"/>
        <p:cNvGrpSpPr/>
        <p:nvPr/>
      </p:nvGrpSpPr>
      <p:grpSpPr>
        <a:xfrm>
          <a:off x="0" y="0"/>
          <a:ext cx="0" cy="0"/>
          <a:chOff x="0" y="0"/>
          <a:chExt cx="0" cy="0"/>
        </a:xfrm>
      </p:grpSpPr>
      <p:sp>
        <p:nvSpPr>
          <p:cNvPr id="11064" name="Google Shape;11064;ga9469d1f40_2_103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65" name="Google Shape;11065;ga9469d1f40_2_103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Font typeface="Barlow"/>
              <a:buChar char="●"/>
              <a:defRPr sz="1200"/>
            </a:lvl1pPr>
            <a:lvl2pPr marL="914400" lvl="1" indent="-317500">
              <a:spcBef>
                <a:spcPts val="1600"/>
              </a:spcBef>
              <a:spcAft>
                <a:spcPts val="0"/>
              </a:spcAft>
              <a:buSzPts val="1400"/>
              <a:buFont typeface="Barlow"/>
              <a:buChar char="○"/>
              <a:defRPr sz="1200"/>
            </a:lvl2pPr>
            <a:lvl3pPr marL="1371600" lvl="2" indent="-317500">
              <a:spcBef>
                <a:spcPts val="1600"/>
              </a:spcBef>
              <a:spcAft>
                <a:spcPts val="0"/>
              </a:spcAft>
              <a:buClr>
                <a:schemeClr val="lt1"/>
              </a:buClr>
              <a:buSzPts val="1400"/>
              <a:buFont typeface="Barlow"/>
              <a:buChar char="■"/>
              <a:defRPr/>
            </a:lvl3pPr>
            <a:lvl4pPr marL="1828800" lvl="3" indent="-317500">
              <a:spcBef>
                <a:spcPts val="1600"/>
              </a:spcBef>
              <a:spcAft>
                <a:spcPts val="0"/>
              </a:spcAft>
              <a:buClr>
                <a:schemeClr val="lt1"/>
              </a:buClr>
              <a:buSzPts val="1400"/>
              <a:buFont typeface="Barlow"/>
              <a:buChar char="●"/>
              <a:defRPr/>
            </a:lvl4pPr>
            <a:lvl5pPr marL="2286000" lvl="4" indent="-317500">
              <a:spcBef>
                <a:spcPts val="1600"/>
              </a:spcBef>
              <a:spcAft>
                <a:spcPts val="0"/>
              </a:spcAft>
              <a:buClr>
                <a:schemeClr val="lt1"/>
              </a:buClr>
              <a:buSzPts val="1400"/>
              <a:buFont typeface="Barlow"/>
              <a:buChar char="○"/>
              <a:defRPr/>
            </a:lvl5pPr>
            <a:lvl6pPr marL="2743200" lvl="5" indent="-317500">
              <a:spcBef>
                <a:spcPts val="1600"/>
              </a:spcBef>
              <a:spcAft>
                <a:spcPts val="0"/>
              </a:spcAft>
              <a:buClr>
                <a:schemeClr val="lt1"/>
              </a:buClr>
              <a:buSzPts val="1400"/>
              <a:buFont typeface="Barlow"/>
              <a:buChar char="■"/>
              <a:defRPr/>
            </a:lvl6pPr>
            <a:lvl7pPr marL="3200400" lvl="6" indent="-317500">
              <a:spcBef>
                <a:spcPts val="1600"/>
              </a:spcBef>
              <a:spcAft>
                <a:spcPts val="0"/>
              </a:spcAft>
              <a:buClr>
                <a:schemeClr val="lt1"/>
              </a:buClr>
              <a:buSzPts val="1400"/>
              <a:buFont typeface="Barlow"/>
              <a:buChar char="●"/>
              <a:defRPr/>
            </a:lvl7pPr>
            <a:lvl8pPr marL="3657600" lvl="7" indent="-317500">
              <a:spcBef>
                <a:spcPts val="1600"/>
              </a:spcBef>
              <a:spcAft>
                <a:spcPts val="0"/>
              </a:spcAft>
              <a:buClr>
                <a:schemeClr val="lt1"/>
              </a:buClr>
              <a:buSzPts val="1400"/>
              <a:buFont typeface="Barlow"/>
              <a:buChar char="○"/>
              <a:defRPr/>
            </a:lvl8pPr>
            <a:lvl9pPr marL="4114800" lvl="8" indent="-317500">
              <a:spcBef>
                <a:spcPts val="1600"/>
              </a:spcBef>
              <a:spcAft>
                <a:spcPts val="1600"/>
              </a:spcAft>
              <a:buClr>
                <a:schemeClr val="lt1"/>
              </a:buClr>
              <a:buSzPts val="1400"/>
              <a:buFont typeface="Barlow"/>
              <a:buChar char="■"/>
              <a:defRPr/>
            </a:lvl9pPr>
          </a:lstStyle>
          <a:p>
            <a:endParaRPr/>
          </a:p>
        </p:txBody>
      </p:sp>
      <p:sp>
        <p:nvSpPr>
          <p:cNvPr id="20" name="Google Shape;20;p4"/>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solidFill>
                  <a:schemeClr val="accen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50"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3277508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8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JU Intro">
    <p:bg>
      <p:bgPr>
        <a:solidFill>
          <a:srgbClr val="787878"/>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8859CC-B640-4DB3-BB6F-301CDED75AAD}" type="datetimeFigureOut">
              <a:rPr lang="sv-SE" smtClean="0"/>
              <a:t>2026-09-02</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50AA12D1-4D5F-4C8C-82B1-BE6DCCEF57B9}" type="slidenum">
              <a:rPr lang="sv-SE" smtClean="0"/>
              <a:t>‹Nº›</a:t>
            </a:fld>
            <a:endParaRPr lang="sv-SE"/>
          </a:p>
        </p:txBody>
      </p:sp>
      <p:pic>
        <p:nvPicPr>
          <p:cNvPr id="8" name="Bildobjekt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336022" y="1885950"/>
            <a:ext cx="2471956" cy="1375847"/>
          </a:xfrm>
          <a:prstGeom prst="rect">
            <a:avLst/>
          </a:prstGeom>
        </p:spPr>
      </p:pic>
    </p:spTree>
    <p:extLst>
      <p:ext uri="{BB962C8B-B14F-4D97-AF65-F5344CB8AC3E}">
        <p14:creationId xmlns:p14="http://schemas.microsoft.com/office/powerpoint/2010/main" val="225053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Start Grey">
    <p:bg>
      <p:bgPr>
        <a:solidFill>
          <a:srgbClr val="787878"/>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6059" y="841772"/>
            <a:ext cx="8626344" cy="1790700"/>
          </a:xfrm>
        </p:spPr>
        <p:txBody>
          <a:bodyPr anchor="b"/>
          <a:lstStyle>
            <a:lvl1pPr algn="l">
              <a:defRPr sz="4500" cap="all" baseline="0">
                <a:latin typeface="Arial" panose="020B0604020202020204" pitchFamily="34" charset="0"/>
                <a:cs typeface="Arial" panose="020B0604020202020204" pitchFamily="34" charset="0"/>
              </a:defRPr>
            </a:lvl1pPr>
          </a:lstStyle>
          <a:p>
            <a:r>
              <a:rPr lang="en-US" dirty="0"/>
              <a:t>CLICK TO EDIT MASTER TITLE STYLE</a:t>
            </a:r>
            <a:endParaRPr lang="sv-SE" dirty="0"/>
          </a:p>
        </p:txBody>
      </p:sp>
      <p:sp>
        <p:nvSpPr>
          <p:cNvPr id="3" name="Subtitle 2"/>
          <p:cNvSpPr>
            <a:spLocks noGrp="1"/>
          </p:cNvSpPr>
          <p:nvPr>
            <p:ph type="subTitle" idx="1"/>
          </p:nvPr>
        </p:nvSpPr>
        <p:spPr>
          <a:xfrm>
            <a:off x="306059" y="2701528"/>
            <a:ext cx="8626344" cy="1241822"/>
          </a:xfrm>
        </p:spPr>
        <p:txBody>
          <a:bodyPr/>
          <a:lstStyle>
            <a:lvl1pPr marL="0" indent="0" algn="l">
              <a:buNone/>
              <a:defRPr sz="1800">
                <a:latin typeface="Georgia" panose="02040502050405020303" pitchFamily="18"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endParaRPr lang="sv-SE" dirty="0"/>
          </a:p>
        </p:txBody>
      </p:sp>
      <p:sp>
        <p:nvSpPr>
          <p:cNvPr id="4" name="Date Placeholder 3"/>
          <p:cNvSpPr>
            <a:spLocks noGrp="1"/>
          </p:cNvSpPr>
          <p:nvPr>
            <p:ph type="dt" sz="half" idx="10"/>
          </p:nvPr>
        </p:nvSpPr>
        <p:spPr/>
        <p:txBody>
          <a:bodyPr/>
          <a:lstStyle/>
          <a:p>
            <a:fld id="{428859CC-B640-4DB3-BB6F-301CDED75AAD}" type="datetimeFigureOut">
              <a:rPr lang="sv-SE" smtClean="0"/>
              <a:t>2026-09-02</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50AA12D1-4D5F-4C8C-82B1-BE6DCCEF57B9}" type="slidenum">
              <a:rPr lang="sv-SE" smtClean="0"/>
              <a:t>‹Nº›</a:t>
            </a:fld>
            <a:endParaRPr lang="sv-SE"/>
          </a:p>
        </p:txBody>
      </p:sp>
      <p:cxnSp>
        <p:nvCxnSpPr>
          <p:cNvPr id="9" name="Rak 7"/>
          <p:cNvCxnSpPr/>
          <p:nvPr userDrawn="1"/>
        </p:nvCxnSpPr>
        <p:spPr>
          <a:xfrm>
            <a:off x="390526" y="4924675"/>
            <a:ext cx="6717767"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0" name="Bildobjekt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41193" y="4771394"/>
            <a:ext cx="1517057" cy="239384"/>
          </a:xfrm>
          <a:prstGeom prst="rect">
            <a:avLst/>
          </a:prstGeom>
        </p:spPr>
      </p:pic>
      <p:cxnSp>
        <p:nvCxnSpPr>
          <p:cNvPr id="11" name="Rak 6"/>
          <p:cNvCxnSpPr/>
          <p:nvPr userDrawn="1"/>
        </p:nvCxnSpPr>
        <p:spPr>
          <a:xfrm>
            <a:off x="390526" y="356322"/>
            <a:ext cx="8541878"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0804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rt Orange">
    <p:bg>
      <p:bgPr>
        <a:solidFill>
          <a:srgbClr val="FFB500"/>
        </a:solidFill>
        <a:effectLst/>
      </p:bgPr>
    </p:bg>
    <p:spTree>
      <p:nvGrpSpPr>
        <p:cNvPr id="1" name=""/>
        <p:cNvGrpSpPr/>
        <p:nvPr/>
      </p:nvGrpSpPr>
      <p:grpSpPr>
        <a:xfrm>
          <a:off x="0" y="0"/>
          <a:ext cx="0" cy="0"/>
          <a:chOff x="0" y="0"/>
          <a:chExt cx="0" cy="0"/>
        </a:xfrm>
      </p:grpSpPr>
      <p:sp>
        <p:nvSpPr>
          <p:cNvPr id="35" name="Title 1"/>
          <p:cNvSpPr>
            <a:spLocks noGrp="1"/>
          </p:cNvSpPr>
          <p:nvPr>
            <p:ph type="ctrTitle" hasCustomPrompt="1"/>
          </p:nvPr>
        </p:nvSpPr>
        <p:spPr>
          <a:xfrm>
            <a:off x="306059" y="841772"/>
            <a:ext cx="8626344" cy="1790700"/>
          </a:xfrm>
        </p:spPr>
        <p:txBody>
          <a:bodyPr anchor="b"/>
          <a:lstStyle>
            <a:lvl1pPr algn="l">
              <a:defRPr sz="4500" cap="all" baseline="0">
                <a:solidFill>
                  <a:schemeClr val="tx1"/>
                </a:solidFill>
              </a:defRPr>
            </a:lvl1pPr>
          </a:lstStyle>
          <a:p>
            <a:r>
              <a:rPr lang="en-US" dirty="0"/>
              <a:t>CLICK TO EDIT MASTER TITLE STYLE</a:t>
            </a:r>
            <a:endParaRPr lang="sv-SE" dirty="0"/>
          </a:p>
        </p:txBody>
      </p:sp>
      <p:sp>
        <p:nvSpPr>
          <p:cNvPr id="36" name="Subtitle 2"/>
          <p:cNvSpPr>
            <a:spLocks noGrp="1"/>
          </p:cNvSpPr>
          <p:nvPr>
            <p:ph type="subTitle" idx="1"/>
          </p:nvPr>
        </p:nvSpPr>
        <p:spPr>
          <a:xfrm>
            <a:off x="306059" y="2701528"/>
            <a:ext cx="8626344" cy="1241822"/>
          </a:xfrm>
        </p:spPr>
        <p:txBody>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endParaRPr lang="sv-SE" dirty="0"/>
          </a:p>
        </p:txBody>
      </p:sp>
      <p:cxnSp>
        <p:nvCxnSpPr>
          <p:cNvPr id="37" name="Rak 6"/>
          <p:cNvCxnSpPr/>
          <p:nvPr userDrawn="1"/>
        </p:nvCxnSpPr>
        <p:spPr>
          <a:xfrm>
            <a:off x="390526" y="356322"/>
            <a:ext cx="8541878" cy="0"/>
          </a:xfrm>
          <a:prstGeom prst="line">
            <a:avLst/>
          </a:prstGeom>
          <a:ln w="9525"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0" name="Rak 7"/>
          <p:cNvCxnSpPr/>
          <p:nvPr userDrawn="1"/>
        </p:nvCxnSpPr>
        <p:spPr>
          <a:xfrm>
            <a:off x="390526" y="4924675"/>
            <a:ext cx="6717767" cy="0"/>
          </a:xfrm>
          <a:prstGeom prst="line">
            <a:avLst/>
          </a:prstGeom>
          <a:ln w="9525" cmpd="sng">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31" name="Bildobjekt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41193" y="4771395"/>
            <a:ext cx="1517057" cy="239383"/>
          </a:xfrm>
          <a:prstGeom prst="rect">
            <a:avLst/>
          </a:prstGeom>
        </p:spPr>
      </p:pic>
    </p:spTree>
    <p:extLst>
      <p:ext uri="{BB962C8B-B14F-4D97-AF65-F5344CB8AC3E}">
        <p14:creationId xmlns:p14="http://schemas.microsoft.com/office/powerpoint/2010/main" val="3654326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rt White">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8859CC-B640-4DB3-BB6F-301CDED75AAD}" type="datetimeFigureOut">
              <a:rPr lang="sv-SE" smtClean="0"/>
              <a:t>2026-09-02</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50AA12D1-4D5F-4C8C-82B1-BE6DCCEF57B9}" type="slidenum">
              <a:rPr lang="sv-SE" smtClean="0"/>
              <a:t>‹Nº›</a:t>
            </a:fld>
            <a:endParaRPr lang="sv-SE"/>
          </a:p>
        </p:txBody>
      </p:sp>
      <p:sp>
        <p:nvSpPr>
          <p:cNvPr id="32" name="Title 1"/>
          <p:cNvSpPr>
            <a:spLocks noGrp="1"/>
          </p:cNvSpPr>
          <p:nvPr>
            <p:ph type="ctrTitle" hasCustomPrompt="1"/>
          </p:nvPr>
        </p:nvSpPr>
        <p:spPr>
          <a:xfrm>
            <a:off x="306059" y="841772"/>
            <a:ext cx="8626344" cy="1790700"/>
          </a:xfrm>
        </p:spPr>
        <p:txBody>
          <a:bodyPr anchor="b"/>
          <a:lstStyle>
            <a:lvl1pPr algn="l">
              <a:defRPr sz="4500" cap="all" baseline="0">
                <a:solidFill>
                  <a:srgbClr val="787878"/>
                </a:solidFill>
              </a:defRPr>
            </a:lvl1pPr>
          </a:lstStyle>
          <a:p>
            <a:r>
              <a:rPr lang="en-US" dirty="0"/>
              <a:t>CLICK TO EDIT MASTER TITLE STYLE</a:t>
            </a:r>
            <a:endParaRPr lang="sv-SE" dirty="0"/>
          </a:p>
        </p:txBody>
      </p:sp>
      <p:sp>
        <p:nvSpPr>
          <p:cNvPr id="33" name="Subtitle 2"/>
          <p:cNvSpPr>
            <a:spLocks noGrp="1"/>
          </p:cNvSpPr>
          <p:nvPr>
            <p:ph type="subTitle" idx="1"/>
          </p:nvPr>
        </p:nvSpPr>
        <p:spPr>
          <a:xfrm>
            <a:off x="306059" y="2701528"/>
            <a:ext cx="8626344" cy="1241822"/>
          </a:xfrm>
        </p:spPr>
        <p:txBody>
          <a:bodyPr/>
          <a:lstStyle>
            <a:lvl1pPr marL="0" indent="0" algn="l">
              <a:buNone/>
              <a:defRPr sz="1800">
                <a:solidFill>
                  <a:srgbClr val="787878"/>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endParaRPr lang="sv-SE" dirty="0"/>
          </a:p>
        </p:txBody>
      </p:sp>
      <p:cxnSp>
        <p:nvCxnSpPr>
          <p:cNvPr id="37" name="Rak 6"/>
          <p:cNvCxnSpPr/>
          <p:nvPr userDrawn="1"/>
        </p:nvCxnSpPr>
        <p:spPr>
          <a:xfrm>
            <a:off x="390526" y="356322"/>
            <a:ext cx="8541878" cy="0"/>
          </a:xfrm>
          <a:prstGeom prst="line">
            <a:avLst/>
          </a:prstGeom>
          <a:ln w="9525" cmpd="sng">
            <a:solidFill>
              <a:srgbClr val="787878"/>
            </a:solidFill>
          </a:ln>
          <a:effectLst/>
        </p:spPr>
        <p:style>
          <a:lnRef idx="2">
            <a:schemeClr val="accent1"/>
          </a:lnRef>
          <a:fillRef idx="0">
            <a:schemeClr val="accent1"/>
          </a:fillRef>
          <a:effectRef idx="1">
            <a:schemeClr val="accent1"/>
          </a:effectRef>
          <a:fontRef idx="minor">
            <a:schemeClr val="tx1"/>
          </a:fontRef>
        </p:style>
      </p:cxnSp>
      <p:cxnSp>
        <p:nvCxnSpPr>
          <p:cNvPr id="10" name="Rak 7"/>
          <p:cNvCxnSpPr/>
          <p:nvPr userDrawn="1"/>
        </p:nvCxnSpPr>
        <p:spPr>
          <a:xfrm>
            <a:off x="390526" y="4924675"/>
            <a:ext cx="6717767" cy="0"/>
          </a:xfrm>
          <a:prstGeom prst="line">
            <a:avLst/>
          </a:prstGeom>
          <a:ln w="9525" cmpd="sng">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1" name="Bildobjekt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41193" y="4771395"/>
            <a:ext cx="1517057" cy="239383"/>
          </a:xfrm>
          <a:prstGeom prst="rect">
            <a:avLst/>
          </a:prstGeom>
        </p:spPr>
      </p:pic>
    </p:spTree>
    <p:extLst>
      <p:ext uri="{BB962C8B-B14F-4D97-AF65-F5344CB8AC3E}">
        <p14:creationId xmlns:p14="http://schemas.microsoft.com/office/powerpoint/2010/main" val="2682902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art Blue">
    <p:bg>
      <p:bgPr>
        <a:solidFill>
          <a:srgbClr val="003865"/>
        </a:solidFill>
        <a:effectLst/>
      </p:bgPr>
    </p:bg>
    <p:spTree>
      <p:nvGrpSpPr>
        <p:cNvPr id="1" name=""/>
        <p:cNvGrpSpPr/>
        <p:nvPr/>
      </p:nvGrpSpPr>
      <p:grpSpPr>
        <a:xfrm>
          <a:off x="0" y="0"/>
          <a:ext cx="0" cy="0"/>
          <a:chOff x="0" y="0"/>
          <a:chExt cx="0" cy="0"/>
        </a:xfrm>
      </p:grpSpPr>
      <p:sp>
        <p:nvSpPr>
          <p:cNvPr id="8" name="Title 1"/>
          <p:cNvSpPr>
            <a:spLocks noGrp="1"/>
          </p:cNvSpPr>
          <p:nvPr>
            <p:ph type="ctrTitle" hasCustomPrompt="1"/>
          </p:nvPr>
        </p:nvSpPr>
        <p:spPr>
          <a:xfrm>
            <a:off x="306059" y="841772"/>
            <a:ext cx="8626344" cy="1790700"/>
          </a:xfrm>
        </p:spPr>
        <p:txBody>
          <a:bodyPr anchor="b"/>
          <a:lstStyle>
            <a:lvl1pPr algn="l">
              <a:defRPr sz="4500" cap="all" baseline="0"/>
            </a:lvl1pPr>
          </a:lstStyle>
          <a:p>
            <a:r>
              <a:rPr lang="en-US" dirty="0"/>
              <a:t>CLICK TO EDIT MASTER TITLE STYLE</a:t>
            </a:r>
            <a:endParaRPr lang="sv-SE" dirty="0"/>
          </a:p>
        </p:txBody>
      </p:sp>
      <p:sp>
        <p:nvSpPr>
          <p:cNvPr id="9" name="Subtitle 2"/>
          <p:cNvSpPr>
            <a:spLocks noGrp="1"/>
          </p:cNvSpPr>
          <p:nvPr>
            <p:ph type="subTitle" idx="1"/>
          </p:nvPr>
        </p:nvSpPr>
        <p:spPr>
          <a:xfrm>
            <a:off x="306059" y="2701528"/>
            <a:ext cx="8626344" cy="1241822"/>
          </a:xfrm>
        </p:spPr>
        <p:txBody>
          <a:bodyPr/>
          <a:lstStyle>
            <a:lvl1pPr marL="0" indent="0" algn="l">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endParaRPr lang="sv-SE" dirty="0"/>
          </a:p>
        </p:txBody>
      </p:sp>
      <p:sp>
        <p:nvSpPr>
          <p:cNvPr id="10" name="Date Placeholder 3"/>
          <p:cNvSpPr>
            <a:spLocks noGrp="1"/>
          </p:cNvSpPr>
          <p:nvPr>
            <p:ph type="dt" sz="half" idx="10"/>
          </p:nvPr>
        </p:nvSpPr>
        <p:spPr>
          <a:xfrm>
            <a:off x="628650" y="4767263"/>
            <a:ext cx="2057400" cy="273844"/>
          </a:xfrm>
        </p:spPr>
        <p:txBody>
          <a:bodyPr/>
          <a:lstStyle/>
          <a:p>
            <a:fld id="{428859CC-B640-4DB3-BB6F-301CDED75AAD}" type="datetimeFigureOut">
              <a:rPr lang="sv-SE" smtClean="0"/>
              <a:t>2026-09-02</a:t>
            </a:fld>
            <a:endParaRPr lang="sv-SE"/>
          </a:p>
        </p:txBody>
      </p:sp>
      <p:sp>
        <p:nvSpPr>
          <p:cNvPr id="11" name="Footer Placeholder 4"/>
          <p:cNvSpPr>
            <a:spLocks noGrp="1"/>
          </p:cNvSpPr>
          <p:nvPr>
            <p:ph type="ftr" sz="quarter" idx="11"/>
          </p:nvPr>
        </p:nvSpPr>
        <p:spPr>
          <a:xfrm>
            <a:off x="3028950" y="4767263"/>
            <a:ext cx="3086100" cy="273844"/>
          </a:xfrm>
        </p:spPr>
        <p:txBody>
          <a:bodyPr/>
          <a:lstStyle/>
          <a:p>
            <a:endParaRPr lang="sv-SE"/>
          </a:p>
        </p:txBody>
      </p:sp>
      <p:sp>
        <p:nvSpPr>
          <p:cNvPr id="12" name="Slide Number Placeholder 5"/>
          <p:cNvSpPr>
            <a:spLocks noGrp="1"/>
          </p:cNvSpPr>
          <p:nvPr>
            <p:ph type="sldNum" sz="quarter" idx="12"/>
          </p:nvPr>
        </p:nvSpPr>
        <p:spPr>
          <a:xfrm>
            <a:off x="6457950" y="4767263"/>
            <a:ext cx="2057400" cy="273844"/>
          </a:xfrm>
        </p:spPr>
        <p:txBody>
          <a:bodyPr/>
          <a:lstStyle/>
          <a:p>
            <a:fld id="{50AA12D1-4D5F-4C8C-82B1-BE6DCCEF57B9}" type="slidenum">
              <a:rPr lang="sv-SE" smtClean="0"/>
              <a:t>‹Nº›</a:t>
            </a:fld>
            <a:endParaRPr lang="sv-SE"/>
          </a:p>
        </p:txBody>
      </p:sp>
      <p:cxnSp>
        <p:nvCxnSpPr>
          <p:cNvPr id="16" name="Rak 6"/>
          <p:cNvCxnSpPr/>
          <p:nvPr userDrawn="1"/>
        </p:nvCxnSpPr>
        <p:spPr>
          <a:xfrm>
            <a:off x="390526" y="356322"/>
            <a:ext cx="8541878"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Rak 7"/>
          <p:cNvCxnSpPr/>
          <p:nvPr userDrawn="1"/>
        </p:nvCxnSpPr>
        <p:spPr>
          <a:xfrm>
            <a:off x="390526" y="4924675"/>
            <a:ext cx="6717767"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8" name="Bildobjekt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41193" y="4771394"/>
            <a:ext cx="1517057" cy="239384"/>
          </a:xfrm>
          <a:prstGeom prst="rect">
            <a:avLst/>
          </a:prstGeom>
        </p:spPr>
      </p:pic>
    </p:spTree>
    <p:extLst>
      <p:ext uri="{BB962C8B-B14F-4D97-AF65-F5344CB8AC3E}">
        <p14:creationId xmlns:p14="http://schemas.microsoft.com/office/powerpoint/2010/main" val="1489626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art Purple">
    <p:bg>
      <p:bgPr>
        <a:solidFill>
          <a:srgbClr val="961B81"/>
        </a:solidFill>
        <a:effectLst/>
      </p:bgPr>
    </p:bg>
    <p:spTree>
      <p:nvGrpSpPr>
        <p:cNvPr id="1" name=""/>
        <p:cNvGrpSpPr/>
        <p:nvPr/>
      </p:nvGrpSpPr>
      <p:grpSpPr>
        <a:xfrm>
          <a:off x="0" y="0"/>
          <a:ext cx="0" cy="0"/>
          <a:chOff x="0" y="0"/>
          <a:chExt cx="0" cy="0"/>
        </a:xfrm>
      </p:grpSpPr>
      <p:sp>
        <p:nvSpPr>
          <p:cNvPr id="8" name="Title 1"/>
          <p:cNvSpPr>
            <a:spLocks noGrp="1"/>
          </p:cNvSpPr>
          <p:nvPr>
            <p:ph type="ctrTitle" hasCustomPrompt="1"/>
          </p:nvPr>
        </p:nvSpPr>
        <p:spPr>
          <a:xfrm>
            <a:off x="306059" y="841772"/>
            <a:ext cx="8626344" cy="1790700"/>
          </a:xfrm>
        </p:spPr>
        <p:txBody>
          <a:bodyPr anchor="b"/>
          <a:lstStyle>
            <a:lvl1pPr algn="l">
              <a:defRPr sz="4500" cap="all" baseline="0"/>
            </a:lvl1pPr>
          </a:lstStyle>
          <a:p>
            <a:r>
              <a:rPr lang="en-US" dirty="0"/>
              <a:t>CLICK TO EDIT MASTER TITLE STYLE</a:t>
            </a:r>
            <a:endParaRPr lang="sv-SE" dirty="0"/>
          </a:p>
        </p:txBody>
      </p:sp>
      <p:sp>
        <p:nvSpPr>
          <p:cNvPr id="9" name="Subtitle 2"/>
          <p:cNvSpPr>
            <a:spLocks noGrp="1"/>
          </p:cNvSpPr>
          <p:nvPr>
            <p:ph type="subTitle" idx="1"/>
          </p:nvPr>
        </p:nvSpPr>
        <p:spPr>
          <a:xfrm>
            <a:off x="306059" y="2701528"/>
            <a:ext cx="8626344" cy="1241822"/>
          </a:xfrm>
        </p:spPr>
        <p:txBody>
          <a:bodyPr/>
          <a:lstStyle>
            <a:lvl1pPr marL="0" indent="0" algn="l">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endParaRPr lang="sv-SE" dirty="0"/>
          </a:p>
        </p:txBody>
      </p:sp>
      <p:sp>
        <p:nvSpPr>
          <p:cNvPr id="10" name="Date Placeholder 3"/>
          <p:cNvSpPr>
            <a:spLocks noGrp="1"/>
          </p:cNvSpPr>
          <p:nvPr>
            <p:ph type="dt" sz="half" idx="10"/>
          </p:nvPr>
        </p:nvSpPr>
        <p:spPr>
          <a:xfrm>
            <a:off x="628650" y="4767263"/>
            <a:ext cx="2057400" cy="273844"/>
          </a:xfrm>
        </p:spPr>
        <p:txBody>
          <a:bodyPr/>
          <a:lstStyle/>
          <a:p>
            <a:fld id="{428859CC-B640-4DB3-BB6F-301CDED75AAD}" type="datetimeFigureOut">
              <a:rPr lang="sv-SE" smtClean="0"/>
              <a:t>2026-09-02</a:t>
            </a:fld>
            <a:endParaRPr lang="sv-SE"/>
          </a:p>
        </p:txBody>
      </p:sp>
      <p:sp>
        <p:nvSpPr>
          <p:cNvPr id="11" name="Footer Placeholder 4"/>
          <p:cNvSpPr>
            <a:spLocks noGrp="1"/>
          </p:cNvSpPr>
          <p:nvPr>
            <p:ph type="ftr" sz="quarter" idx="11"/>
          </p:nvPr>
        </p:nvSpPr>
        <p:spPr>
          <a:xfrm>
            <a:off x="3028950" y="4767263"/>
            <a:ext cx="3086100" cy="273844"/>
          </a:xfrm>
        </p:spPr>
        <p:txBody>
          <a:bodyPr/>
          <a:lstStyle/>
          <a:p>
            <a:endParaRPr lang="sv-SE"/>
          </a:p>
        </p:txBody>
      </p:sp>
      <p:sp>
        <p:nvSpPr>
          <p:cNvPr id="12" name="Slide Number Placeholder 5"/>
          <p:cNvSpPr>
            <a:spLocks noGrp="1"/>
          </p:cNvSpPr>
          <p:nvPr>
            <p:ph type="sldNum" sz="quarter" idx="12"/>
          </p:nvPr>
        </p:nvSpPr>
        <p:spPr>
          <a:xfrm>
            <a:off x="6457950" y="4767263"/>
            <a:ext cx="2057400" cy="273844"/>
          </a:xfrm>
        </p:spPr>
        <p:txBody>
          <a:bodyPr/>
          <a:lstStyle/>
          <a:p>
            <a:fld id="{50AA12D1-4D5F-4C8C-82B1-BE6DCCEF57B9}" type="slidenum">
              <a:rPr lang="sv-SE" smtClean="0"/>
              <a:t>‹Nº›</a:t>
            </a:fld>
            <a:endParaRPr lang="sv-SE"/>
          </a:p>
        </p:txBody>
      </p:sp>
      <p:cxnSp>
        <p:nvCxnSpPr>
          <p:cNvPr id="16" name="Rak 6"/>
          <p:cNvCxnSpPr/>
          <p:nvPr userDrawn="1"/>
        </p:nvCxnSpPr>
        <p:spPr>
          <a:xfrm>
            <a:off x="390526" y="356322"/>
            <a:ext cx="8541878"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Rak 7"/>
          <p:cNvCxnSpPr/>
          <p:nvPr userDrawn="1"/>
        </p:nvCxnSpPr>
        <p:spPr>
          <a:xfrm>
            <a:off x="390526" y="4924675"/>
            <a:ext cx="6717767"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8" name="Bildobjekt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41193" y="4771394"/>
            <a:ext cx="1517057" cy="239384"/>
          </a:xfrm>
          <a:prstGeom prst="rect">
            <a:avLst/>
          </a:prstGeom>
        </p:spPr>
      </p:pic>
    </p:spTree>
    <p:extLst>
      <p:ext uri="{BB962C8B-B14F-4D97-AF65-F5344CB8AC3E}">
        <p14:creationId xmlns:p14="http://schemas.microsoft.com/office/powerpoint/2010/main" val="3324366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cap="all" baseline="0">
                <a:latin typeface="Arial" panose="020B0604020202020204" pitchFamily="34" charset="0"/>
                <a:cs typeface="Arial" panose="020B0604020202020204" pitchFamily="34" charset="0"/>
              </a:defRPr>
            </a:lvl1pPr>
          </a:lstStyle>
          <a:p>
            <a:r>
              <a:rPr lang="en-US" dirty="0"/>
              <a:t>CLICK TO EDIT MASTER TITLE STYLE</a:t>
            </a:r>
            <a:endParaRPr lang="sv-SE" dirty="0"/>
          </a:p>
        </p:txBody>
      </p:sp>
      <p:sp>
        <p:nvSpPr>
          <p:cNvPr id="3" name="Content Placeholder 2"/>
          <p:cNvSpPr>
            <a:spLocks noGrp="1"/>
          </p:cNvSpPr>
          <p:nvPr>
            <p:ph idx="1"/>
          </p:nvPr>
        </p:nvSpPr>
        <p:spPr/>
        <p:txBody>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sv-SE" dirty="0"/>
          </a:p>
        </p:txBody>
      </p:sp>
      <p:sp>
        <p:nvSpPr>
          <p:cNvPr id="4" name="Date Placeholder 3"/>
          <p:cNvSpPr>
            <a:spLocks noGrp="1"/>
          </p:cNvSpPr>
          <p:nvPr>
            <p:ph type="dt" sz="half" idx="10"/>
          </p:nvPr>
        </p:nvSpPr>
        <p:spPr/>
        <p:txBody>
          <a:bodyPr/>
          <a:lstStyle/>
          <a:p>
            <a:fld id="{428859CC-B640-4DB3-BB6F-301CDED75AAD}" type="datetimeFigureOut">
              <a:rPr lang="sv-SE" smtClean="0"/>
              <a:t>2026-09-02</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50AA12D1-4D5F-4C8C-82B1-BE6DCCEF57B9}" type="slidenum">
              <a:rPr lang="sv-SE" smtClean="0"/>
              <a:t>‹Nº›</a:t>
            </a:fld>
            <a:endParaRPr lang="sv-SE"/>
          </a:p>
        </p:txBody>
      </p:sp>
      <p:cxnSp>
        <p:nvCxnSpPr>
          <p:cNvPr id="10" name="Rak 7"/>
          <p:cNvCxnSpPr/>
          <p:nvPr userDrawn="1"/>
        </p:nvCxnSpPr>
        <p:spPr>
          <a:xfrm>
            <a:off x="390526" y="4924675"/>
            <a:ext cx="6717767"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1" name="Bildobjekt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41193" y="4771394"/>
            <a:ext cx="1517057" cy="239384"/>
          </a:xfrm>
          <a:prstGeom prst="rect">
            <a:avLst/>
          </a:prstGeom>
        </p:spPr>
      </p:pic>
    </p:spTree>
    <p:extLst>
      <p:ext uri="{BB962C8B-B14F-4D97-AF65-F5344CB8AC3E}">
        <p14:creationId xmlns:p14="http://schemas.microsoft.com/office/powerpoint/2010/main" val="11726296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Whit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cap="all" baseline="0">
                <a:solidFill>
                  <a:srgbClr val="787878"/>
                </a:solidFill>
              </a:defRPr>
            </a:lvl1pPr>
          </a:lstStyle>
          <a:p>
            <a:r>
              <a:rPr lang="en-US" dirty="0"/>
              <a:t>CLICK TO EDIT MASTER TITLE STYLE</a:t>
            </a:r>
            <a:endParaRPr lang="sv-SE" dirty="0"/>
          </a:p>
        </p:txBody>
      </p:sp>
      <p:sp>
        <p:nvSpPr>
          <p:cNvPr id="3" name="Content Placeholder 2"/>
          <p:cNvSpPr>
            <a:spLocks noGrp="1"/>
          </p:cNvSpPr>
          <p:nvPr>
            <p:ph idx="1"/>
          </p:nvPr>
        </p:nvSpPr>
        <p:spPr/>
        <p:txBody>
          <a:bodyPr/>
          <a:lstStyle>
            <a:lvl1pPr>
              <a:defRPr>
                <a:solidFill>
                  <a:srgbClr val="787878"/>
                </a:solidFill>
              </a:defRPr>
            </a:lvl1pPr>
            <a:lvl2pPr>
              <a:defRPr>
                <a:solidFill>
                  <a:srgbClr val="787878"/>
                </a:solidFill>
              </a:defRPr>
            </a:lvl2pPr>
            <a:lvl3pPr>
              <a:defRPr>
                <a:solidFill>
                  <a:srgbClr val="787878"/>
                </a:solidFill>
              </a:defRPr>
            </a:lvl3pPr>
            <a:lvl4pPr>
              <a:defRPr>
                <a:solidFill>
                  <a:srgbClr val="787878"/>
                </a:solidFill>
              </a:defRPr>
            </a:lvl4pPr>
            <a:lvl5pPr>
              <a:defRPr>
                <a:solidFill>
                  <a:srgbClr val="78787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sv-SE" dirty="0"/>
          </a:p>
        </p:txBody>
      </p:sp>
      <p:sp>
        <p:nvSpPr>
          <p:cNvPr id="4" name="Date Placeholder 3"/>
          <p:cNvSpPr>
            <a:spLocks noGrp="1"/>
          </p:cNvSpPr>
          <p:nvPr>
            <p:ph type="dt" sz="half" idx="10"/>
          </p:nvPr>
        </p:nvSpPr>
        <p:spPr/>
        <p:txBody>
          <a:bodyPr/>
          <a:lstStyle/>
          <a:p>
            <a:fld id="{428859CC-B640-4DB3-BB6F-301CDED75AAD}" type="datetimeFigureOut">
              <a:rPr lang="sv-SE" smtClean="0"/>
              <a:t>2026-09-02</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50AA12D1-4D5F-4C8C-82B1-BE6DCCEF57B9}" type="slidenum">
              <a:rPr lang="sv-SE" smtClean="0"/>
              <a:t>‹Nº›</a:t>
            </a:fld>
            <a:endParaRPr lang="sv-SE"/>
          </a:p>
        </p:txBody>
      </p:sp>
      <p:cxnSp>
        <p:nvCxnSpPr>
          <p:cNvPr id="9" name="Rak 7"/>
          <p:cNvCxnSpPr/>
          <p:nvPr userDrawn="1"/>
        </p:nvCxnSpPr>
        <p:spPr>
          <a:xfrm>
            <a:off x="390526" y="4924675"/>
            <a:ext cx="6717767" cy="0"/>
          </a:xfrm>
          <a:prstGeom prst="line">
            <a:avLst/>
          </a:prstGeom>
          <a:ln w="9525" cmpd="sng">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2" name="Bildobjekt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41193" y="4771395"/>
            <a:ext cx="1517057" cy="239383"/>
          </a:xfrm>
          <a:prstGeom prst="rect">
            <a:avLst/>
          </a:prstGeom>
        </p:spPr>
      </p:pic>
    </p:spTree>
    <p:extLst>
      <p:ext uri="{BB962C8B-B14F-4D97-AF65-F5344CB8AC3E}">
        <p14:creationId xmlns:p14="http://schemas.microsoft.com/office/powerpoint/2010/main" val="29095876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cap="all" baseline="0">
                <a:latin typeface="Arial" panose="020B0604020202020204" pitchFamily="34" charset="0"/>
                <a:cs typeface="Arial" panose="020B0604020202020204" pitchFamily="34" charset="0"/>
              </a:defRPr>
            </a:lvl1pPr>
          </a:lstStyle>
          <a:p>
            <a:r>
              <a:rPr lang="en-US" dirty="0"/>
              <a:t>CLICK TO EDIT MASTER TITLE STYLE</a:t>
            </a:r>
            <a:endParaRPr lang="sv-SE" dirty="0"/>
          </a:p>
        </p:txBody>
      </p:sp>
      <p:sp>
        <p:nvSpPr>
          <p:cNvPr id="3" name="Content Placeholder 2"/>
          <p:cNvSpPr>
            <a:spLocks noGrp="1"/>
          </p:cNvSpPr>
          <p:nvPr>
            <p:ph sz="half" idx="1"/>
          </p:nvPr>
        </p:nvSpPr>
        <p:spPr>
          <a:xfrm>
            <a:off x="628650" y="1369219"/>
            <a:ext cx="3886200" cy="3263504"/>
          </a:xfrm>
        </p:spPr>
        <p:txBody>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sv-SE" dirty="0"/>
          </a:p>
        </p:txBody>
      </p:sp>
      <p:sp>
        <p:nvSpPr>
          <p:cNvPr id="4" name="Content Placeholder 3"/>
          <p:cNvSpPr>
            <a:spLocks noGrp="1"/>
          </p:cNvSpPr>
          <p:nvPr>
            <p:ph sz="half" idx="2"/>
          </p:nvPr>
        </p:nvSpPr>
        <p:spPr>
          <a:xfrm>
            <a:off x="4629150" y="1369219"/>
            <a:ext cx="3886200" cy="3263504"/>
          </a:xfrm>
        </p:spPr>
        <p:txBody>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sv-SE" dirty="0"/>
          </a:p>
        </p:txBody>
      </p:sp>
      <p:sp>
        <p:nvSpPr>
          <p:cNvPr id="5" name="Date Placeholder 4"/>
          <p:cNvSpPr>
            <a:spLocks noGrp="1"/>
          </p:cNvSpPr>
          <p:nvPr>
            <p:ph type="dt" sz="half" idx="10"/>
          </p:nvPr>
        </p:nvSpPr>
        <p:spPr/>
        <p:txBody>
          <a:bodyPr/>
          <a:lstStyle/>
          <a:p>
            <a:fld id="{428859CC-B640-4DB3-BB6F-301CDED75AAD}" type="datetimeFigureOut">
              <a:rPr lang="sv-SE" smtClean="0"/>
              <a:t>2026-09-02</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50AA12D1-4D5F-4C8C-82B1-BE6DCCEF57B9}" type="slidenum">
              <a:rPr lang="sv-SE" smtClean="0"/>
              <a:t>‹Nº›</a:t>
            </a:fld>
            <a:endParaRPr lang="sv-SE"/>
          </a:p>
        </p:txBody>
      </p:sp>
      <p:cxnSp>
        <p:nvCxnSpPr>
          <p:cNvPr id="11" name="Rak 7"/>
          <p:cNvCxnSpPr/>
          <p:nvPr userDrawn="1"/>
        </p:nvCxnSpPr>
        <p:spPr>
          <a:xfrm>
            <a:off x="390526" y="4924675"/>
            <a:ext cx="6717767"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2" name="Bildobjekt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41193" y="4771394"/>
            <a:ext cx="1517057" cy="239384"/>
          </a:xfrm>
          <a:prstGeom prst="rect">
            <a:avLst/>
          </a:prstGeom>
        </p:spPr>
      </p:pic>
    </p:spTree>
    <p:extLst>
      <p:ext uri="{BB962C8B-B14F-4D97-AF65-F5344CB8AC3E}">
        <p14:creationId xmlns:p14="http://schemas.microsoft.com/office/powerpoint/2010/main" val="5331892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Whit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cap="all" baseline="0">
                <a:solidFill>
                  <a:srgbClr val="787878"/>
                </a:solidFill>
              </a:defRPr>
            </a:lvl1pPr>
          </a:lstStyle>
          <a:p>
            <a:r>
              <a:rPr lang="en-US" dirty="0"/>
              <a:t>CLICK TO EDIT MASTER TITLE STYLE</a:t>
            </a:r>
            <a:endParaRPr lang="sv-SE" dirty="0"/>
          </a:p>
        </p:txBody>
      </p:sp>
      <p:sp>
        <p:nvSpPr>
          <p:cNvPr id="3" name="Content Placeholder 2"/>
          <p:cNvSpPr>
            <a:spLocks noGrp="1"/>
          </p:cNvSpPr>
          <p:nvPr>
            <p:ph sz="half" idx="1"/>
          </p:nvPr>
        </p:nvSpPr>
        <p:spPr>
          <a:xfrm>
            <a:off x="628650" y="1369219"/>
            <a:ext cx="3886200" cy="3263504"/>
          </a:xfrm>
        </p:spPr>
        <p:txBody>
          <a:bodyPr/>
          <a:lstStyle>
            <a:lvl1pPr>
              <a:defRPr>
                <a:solidFill>
                  <a:srgbClr val="787878"/>
                </a:solidFill>
              </a:defRPr>
            </a:lvl1pPr>
            <a:lvl2pPr>
              <a:defRPr>
                <a:solidFill>
                  <a:srgbClr val="787878"/>
                </a:solidFill>
              </a:defRPr>
            </a:lvl2pPr>
            <a:lvl3pPr>
              <a:defRPr>
                <a:solidFill>
                  <a:srgbClr val="787878"/>
                </a:solidFill>
              </a:defRPr>
            </a:lvl3pPr>
            <a:lvl4pPr>
              <a:defRPr>
                <a:solidFill>
                  <a:srgbClr val="787878"/>
                </a:solidFill>
              </a:defRPr>
            </a:lvl4pPr>
            <a:lvl5pPr>
              <a:defRPr>
                <a:solidFill>
                  <a:srgbClr val="78787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sv-SE" dirty="0"/>
          </a:p>
        </p:txBody>
      </p:sp>
      <p:sp>
        <p:nvSpPr>
          <p:cNvPr id="4" name="Content Placeholder 3"/>
          <p:cNvSpPr>
            <a:spLocks noGrp="1"/>
          </p:cNvSpPr>
          <p:nvPr>
            <p:ph sz="half" idx="2"/>
          </p:nvPr>
        </p:nvSpPr>
        <p:spPr>
          <a:xfrm>
            <a:off x="4629150" y="1369219"/>
            <a:ext cx="3886200" cy="3263504"/>
          </a:xfrm>
        </p:spPr>
        <p:txBody>
          <a:bodyPr/>
          <a:lstStyle>
            <a:lvl1pPr>
              <a:defRPr>
                <a:solidFill>
                  <a:srgbClr val="787878"/>
                </a:solidFill>
              </a:defRPr>
            </a:lvl1pPr>
            <a:lvl2pPr>
              <a:defRPr>
                <a:solidFill>
                  <a:srgbClr val="787878"/>
                </a:solidFill>
              </a:defRPr>
            </a:lvl2pPr>
            <a:lvl3pPr>
              <a:defRPr>
                <a:solidFill>
                  <a:srgbClr val="787878"/>
                </a:solidFill>
              </a:defRPr>
            </a:lvl3pPr>
            <a:lvl4pPr>
              <a:defRPr>
                <a:solidFill>
                  <a:srgbClr val="787878"/>
                </a:solidFill>
              </a:defRPr>
            </a:lvl4pPr>
            <a:lvl5pPr>
              <a:defRPr>
                <a:solidFill>
                  <a:srgbClr val="78787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sv-SE" dirty="0"/>
          </a:p>
        </p:txBody>
      </p:sp>
      <p:sp>
        <p:nvSpPr>
          <p:cNvPr id="5" name="Date Placeholder 4"/>
          <p:cNvSpPr>
            <a:spLocks noGrp="1"/>
          </p:cNvSpPr>
          <p:nvPr>
            <p:ph type="dt" sz="half" idx="10"/>
          </p:nvPr>
        </p:nvSpPr>
        <p:spPr/>
        <p:txBody>
          <a:bodyPr/>
          <a:lstStyle/>
          <a:p>
            <a:fld id="{428859CC-B640-4DB3-BB6F-301CDED75AAD}" type="datetimeFigureOut">
              <a:rPr lang="sv-SE" smtClean="0"/>
              <a:t>2026-09-02</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50AA12D1-4D5F-4C8C-82B1-BE6DCCEF57B9}" type="slidenum">
              <a:rPr lang="sv-SE" smtClean="0"/>
              <a:t>‹Nº›</a:t>
            </a:fld>
            <a:endParaRPr lang="sv-SE"/>
          </a:p>
        </p:txBody>
      </p:sp>
      <p:cxnSp>
        <p:nvCxnSpPr>
          <p:cNvPr id="10" name="Rak 7"/>
          <p:cNvCxnSpPr/>
          <p:nvPr userDrawn="1"/>
        </p:nvCxnSpPr>
        <p:spPr>
          <a:xfrm>
            <a:off x="390526" y="4924675"/>
            <a:ext cx="6717767" cy="0"/>
          </a:xfrm>
          <a:prstGeom prst="line">
            <a:avLst/>
          </a:prstGeom>
          <a:ln w="9525" cmpd="sng">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3" name="Bildobjekt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41193" y="4771395"/>
            <a:ext cx="1517057" cy="239383"/>
          </a:xfrm>
          <a:prstGeom prst="rect">
            <a:avLst/>
          </a:prstGeom>
        </p:spPr>
      </p:pic>
    </p:spTree>
    <p:extLst>
      <p:ext uri="{BB962C8B-B14F-4D97-AF65-F5344CB8AC3E}">
        <p14:creationId xmlns:p14="http://schemas.microsoft.com/office/powerpoint/2010/main" val="19058034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29150" y="602023"/>
            <a:ext cx="3886200" cy="994172"/>
          </a:xfrm>
        </p:spPr>
        <p:txBody>
          <a:bodyPr anchor="b" anchorCtr="0"/>
          <a:lstStyle>
            <a:lvl1pPr>
              <a:defRPr cap="all" baseline="0"/>
            </a:lvl1pPr>
          </a:lstStyle>
          <a:p>
            <a:r>
              <a:rPr lang="en-US" dirty="0"/>
              <a:t>CLICK TO EDIT MASTER TITLE STYLE</a:t>
            </a:r>
            <a:endParaRPr lang="sv-SE" dirty="0"/>
          </a:p>
        </p:txBody>
      </p:sp>
      <p:sp>
        <p:nvSpPr>
          <p:cNvPr id="4" name="Content Placeholder 3"/>
          <p:cNvSpPr>
            <a:spLocks noGrp="1"/>
          </p:cNvSpPr>
          <p:nvPr>
            <p:ph sz="half" idx="2"/>
          </p:nvPr>
        </p:nvSpPr>
        <p:spPr>
          <a:xfrm>
            <a:off x="4629150" y="1753606"/>
            <a:ext cx="3886200" cy="28791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sv-SE" dirty="0"/>
          </a:p>
        </p:txBody>
      </p:sp>
      <p:sp>
        <p:nvSpPr>
          <p:cNvPr id="5" name="Date Placeholder 4"/>
          <p:cNvSpPr>
            <a:spLocks noGrp="1"/>
          </p:cNvSpPr>
          <p:nvPr>
            <p:ph type="dt" sz="half" idx="10"/>
          </p:nvPr>
        </p:nvSpPr>
        <p:spPr/>
        <p:txBody>
          <a:bodyPr/>
          <a:lstStyle/>
          <a:p>
            <a:fld id="{428859CC-B640-4DB3-BB6F-301CDED75AAD}" type="datetimeFigureOut">
              <a:rPr lang="sv-SE" smtClean="0"/>
              <a:t>2026-09-02</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50AA12D1-4D5F-4C8C-82B1-BE6DCCEF57B9}" type="slidenum">
              <a:rPr lang="sv-SE" smtClean="0"/>
              <a:t>‹Nº›</a:t>
            </a:fld>
            <a:endParaRPr lang="sv-SE"/>
          </a:p>
        </p:txBody>
      </p:sp>
      <p:sp>
        <p:nvSpPr>
          <p:cNvPr id="11" name="Picture Placeholder 2"/>
          <p:cNvSpPr>
            <a:spLocks noGrp="1"/>
          </p:cNvSpPr>
          <p:nvPr>
            <p:ph type="pic" idx="1"/>
          </p:nvPr>
        </p:nvSpPr>
        <p:spPr>
          <a:xfrm>
            <a:off x="390525" y="357070"/>
            <a:ext cx="3895725" cy="4027383"/>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sv-SE"/>
          </a:p>
        </p:txBody>
      </p:sp>
      <p:cxnSp>
        <p:nvCxnSpPr>
          <p:cNvPr id="12" name="Rak 7"/>
          <p:cNvCxnSpPr/>
          <p:nvPr userDrawn="1"/>
        </p:nvCxnSpPr>
        <p:spPr>
          <a:xfrm>
            <a:off x="390526" y="4924675"/>
            <a:ext cx="6717767"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3" name="Bildobjekt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41193" y="4771394"/>
            <a:ext cx="1517057" cy="239384"/>
          </a:xfrm>
          <a:prstGeom prst="rect">
            <a:avLst/>
          </a:prstGeom>
        </p:spPr>
      </p:pic>
    </p:spTree>
    <p:extLst>
      <p:ext uri="{BB962C8B-B14F-4D97-AF65-F5344CB8AC3E}">
        <p14:creationId xmlns:p14="http://schemas.microsoft.com/office/powerpoint/2010/main" val="11826788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and Content Whit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29150" y="602023"/>
            <a:ext cx="3886200" cy="994172"/>
          </a:xfrm>
        </p:spPr>
        <p:txBody>
          <a:bodyPr anchor="b" anchorCtr="0"/>
          <a:lstStyle>
            <a:lvl1pPr>
              <a:defRPr cap="all" baseline="0">
                <a:solidFill>
                  <a:srgbClr val="787878"/>
                </a:solidFill>
              </a:defRPr>
            </a:lvl1pPr>
          </a:lstStyle>
          <a:p>
            <a:r>
              <a:rPr lang="en-US" dirty="0"/>
              <a:t>CLICK TO EDIT MASTER TITLE STYLE</a:t>
            </a:r>
            <a:endParaRPr lang="sv-SE" dirty="0"/>
          </a:p>
        </p:txBody>
      </p:sp>
      <p:sp>
        <p:nvSpPr>
          <p:cNvPr id="4" name="Content Placeholder 3"/>
          <p:cNvSpPr>
            <a:spLocks noGrp="1"/>
          </p:cNvSpPr>
          <p:nvPr>
            <p:ph sz="half" idx="2"/>
          </p:nvPr>
        </p:nvSpPr>
        <p:spPr>
          <a:xfrm>
            <a:off x="4629150" y="1753606"/>
            <a:ext cx="3886200" cy="2879116"/>
          </a:xfrm>
        </p:spPr>
        <p:txBody>
          <a:bodyPr/>
          <a:lstStyle>
            <a:lvl1pPr>
              <a:defRPr>
                <a:solidFill>
                  <a:srgbClr val="787878"/>
                </a:solidFill>
              </a:defRPr>
            </a:lvl1pPr>
            <a:lvl2pPr>
              <a:defRPr>
                <a:solidFill>
                  <a:srgbClr val="787878"/>
                </a:solidFill>
              </a:defRPr>
            </a:lvl2pPr>
            <a:lvl3pPr>
              <a:defRPr>
                <a:solidFill>
                  <a:srgbClr val="787878"/>
                </a:solidFill>
              </a:defRPr>
            </a:lvl3pPr>
            <a:lvl4pPr>
              <a:defRPr>
                <a:solidFill>
                  <a:srgbClr val="787878"/>
                </a:solidFill>
              </a:defRPr>
            </a:lvl4pPr>
            <a:lvl5pPr>
              <a:defRPr>
                <a:solidFill>
                  <a:srgbClr val="78787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sv-SE" dirty="0"/>
          </a:p>
        </p:txBody>
      </p:sp>
      <p:sp>
        <p:nvSpPr>
          <p:cNvPr id="5" name="Date Placeholder 4"/>
          <p:cNvSpPr>
            <a:spLocks noGrp="1"/>
          </p:cNvSpPr>
          <p:nvPr>
            <p:ph type="dt" sz="half" idx="10"/>
          </p:nvPr>
        </p:nvSpPr>
        <p:spPr/>
        <p:txBody>
          <a:bodyPr/>
          <a:lstStyle/>
          <a:p>
            <a:fld id="{428859CC-B640-4DB3-BB6F-301CDED75AAD}" type="datetimeFigureOut">
              <a:rPr lang="sv-SE" smtClean="0"/>
              <a:t>2026-09-02</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50AA12D1-4D5F-4C8C-82B1-BE6DCCEF57B9}" type="slidenum">
              <a:rPr lang="sv-SE" smtClean="0"/>
              <a:t>‹Nº›</a:t>
            </a:fld>
            <a:endParaRPr lang="sv-SE"/>
          </a:p>
        </p:txBody>
      </p:sp>
      <p:sp>
        <p:nvSpPr>
          <p:cNvPr id="11" name="Picture Placeholder 2"/>
          <p:cNvSpPr>
            <a:spLocks noGrp="1"/>
          </p:cNvSpPr>
          <p:nvPr>
            <p:ph type="pic" idx="1"/>
          </p:nvPr>
        </p:nvSpPr>
        <p:spPr>
          <a:xfrm>
            <a:off x="390525" y="357070"/>
            <a:ext cx="3895725" cy="4027383"/>
          </a:xfrm>
        </p:spPr>
        <p:txBody>
          <a:bodyPr/>
          <a:lstStyle>
            <a:lvl1pPr marL="0" indent="0">
              <a:buNone/>
              <a:defRPr sz="2400">
                <a:solidFill>
                  <a:srgbClr val="787878"/>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sv-SE" dirty="0"/>
          </a:p>
        </p:txBody>
      </p:sp>
      <p:cxnSp>
        <p:nvCxnSpPr>
          <p:cNvPr id="12" name="Rak 7"/>
          <p:cNvCxnSpPr/>
          <p:nvPr userDrawn="1"/>
        </p:nvCxnSpPr>
        <p:spPr>
          <a:xfrm>
            <a:off x="390526" y="4924675"/>
            <a:ext cx="6717767" cy="0"/>
          </a:xfrm>
          <a:prstGeom prst="line">
            <a:avLst/>
          </a:prstGeom>
          <a:ln w="9525" cmpd="sng">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3" name="Bildobjekt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41193" y="4771395"/>
            <a:ext cx="1517057" cy="239383"/>
          </a:xfrm>
          <a:prstGeom prst="rect">
            <a:avLst/>
          </a:prstGeom>
        </p:spPr>
      </p:pic>
    </p:spTree>
    <p:extLst>
      <p:ext uri="{BB962C8B-B14F-4D97-AF65-F5344CB8AC3E}">
        <p14:creationId xmlns:p14="http://schemas.microsoft.com/office/powerpoint/2010/main" val="4157887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fo boxes rectangle">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881457"/>
            <a:ext cx="3367127" cy="2847935"/>
          </a:xfrm>
          <a:prstGeom prst="round2DiagRect">
            <a:avLst/>
          </a:prstGeom>
          <a:solidFill>
            <a:srgbClr val="939393"/>
          </a:solidFill>
        </p:spPr>
        <p:txBody>
          <a:bodyPr>
            <a:normAutofit/>
          </a:bodyPr>
          <a:lstStyle>
            <a:lvl1pPr marL="0" indent="0" algn="ctr">
              <a:buNone/>
              <a:defRPr sz="3000" cap="all" baseline="0">
                <a:latin typeface="+mj-lt"/>
              </a:defRPr>
            </a:lvl1pPr>
          </a:lstStyle>
          <a:p>
            <a:pPr lvl="0"/>
            <a:r>
              <a:rPr lang="en-US" dirty="0"/>
              <a:t>Click to edit Master text styles</a:t>
            </a:r>
          </a:p>
          <a:p>
            <a:pPr lvl="0"/>
            <a:endParaRPr lang="en-US" dirty="0"/>
          </a:p>
          <a:p>
            <a:pPr lvl="0"/>
            <a:endParaRPr lang="en-US" dirty="0"/>
          </a:p>
        </p:txBody>
      </p:sp>
      <p:sp>
        <p:nvSpPr>
          <p:cNvPr id="4" name="Content Placeholder 3"/>
          <p:cNvSpPr>
            <a:spLocks noGrp="1"/>
          </p:cNvSpPr>
          <p:nvPr>
            <p:ph sz="half" idx="2"/>
          </p:nvPr>
        </p:nvSpPr>
        <p:spPr>
          <a:xfrm>
            <a:off x="5066985" y="864788"/>
            <a:ext cx="3366900" cy="2864604"/>
          </a:xfrm>
          <a:prstGeom prst="round2DiagRect">
            <a:avLst/>
          </a:prstGeom>
          <a:solidFill>
            <a:schemeClr val="bg1"/>
          </a:solidFill>
        </p:spPr>
        <p:txBody>
          <a:bodyPr>
            <a:normAutofit/>
          </a:bodyPr>
          <a:lstStyle>
            <a:lvl1pPr marL="0" indent="0" algn="ctr">
              <a:buNone/>
              <a:defRPr sz="3000" cap="all" baseline="0">
                <a:solidFill>
                  <a:srgbClr val="787878"/>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p:txBody>
      </p:sp>
      <p:sp>
        <p:nvSpPr>
          <p:cNvPr id="5" name="Date Placeholder 4"/>
          <p:cNvSpPr>
            <a:spLocks noGrp="1"/>
          </p:cNvSpPr>
          <p:nvPr>
            <p:ph type="dt" sz="half" idx="10"/>
          </p:nvPr>
        </p:nvSpPr>
        <p:spPr/>
        <p:txBody>
          <a:bodyPr/>
          <a:lstStyle/>
          <a:p>
            <a:fld id="{428859CC-B640-4DB3-BB6F-301CDED75AAD}" type="datetimeFigureOut">
              <a:rPr lang="sv-SE" smtClean="0"/>
              <a:t>2026-09-02</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50AA12D1-4D5F-4C8C-82B1-BE6DCCEF57B9}" type="slidenum">
              <a:rPr lang="sv-SE" smtClean="0"/>
              <a:t>‹Nº›</a:t>
            </a:fld>
            <a:endParaRPr lang="sv-SE"/>
          </a:p>
        </p:txBody>
      </p:sp>
      <p:sp>
        <p:nvSpPr>
          <p:cNvPr id="12" name="Text Placeholder 3"/>
          <p:cNvSpPr>
            <a:spLocks noGrp="1"/>
          </p:cNvSpPr>
          <p:nvPr>
            <p:ph type="body" sz="half" idx="13"/>
          </p:nvPr>
        </p:nvSpPr>
        <p:spPr>
          <a:xfrm>
            <a:off x="862569" y="1850446"/>
            <a:ext cx="2946173" cy="2266409"/>
          </a:xfrm>
        </p:spPr>
        <p:txBody>
          <a:bodyPr>
            <a:normAutofit/>
          </a:bodyPr>
          <a:lstStyle>
            <a:lvl1pPr marL="0" indent="0" algn="ctr">
              <a:buNone/>
              <a:defRPr sz="21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13" name="Text Placeholder 3"/>
          <p:cNvSpPr>
            <a:spLocks noGrp="1"/>
          </p:cNvSpPr>
          <p:nvPr>
            <p:ph type="body" sz="half" idx="14"/>
          </p:nvPr>
        </p:nvSpPr>
        <p:spPr>
          <a:xfrm>
            <a:off x="5242686" y="1850446"/>
            <a:ext cx="3038745" cy="2266409"/>
          </a:xfrm>
        </p:spPr>
        <p:txBody>
          <a:bodyPr>
            <a:normAutofit/>
          </a:bodyPr>
          <a:lstStyle>
            <a:lvl1pPr marL="0" indent="0" algn="ctr">
              <a:buNone/>
              <a:defRPr sz="2100">
                <a:solidFill>
                  <a:srgbClr val="787878"/>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cxnSp>
        <p:nvCxnSpPr>
          <p:cNvPr id="14" name="Rak 7"/>
          <p:cNvCxnSpPr/>
          <p:nvPr userDrawn="1"/>
        </p:nvCxnSpPr>
        <p:spPr>
          <a:xfrm>
            <a:off x="390526" y="4924675"/>
            <a:ext cx="6717767"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5" name="Bildobjekt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41193" y="4771394"/>
            <a:ext cx="1517057" cy="239384"/>
          </a:xfrm>
          <a:prstGeom prst="rect">
            <a:avLst/>
          </a:prstGeom>
        </p:spPr>
      </p:pic>
    </p:spTree>
    <p:extLst>
      <p:ext uri="{BB962C8B-B14F-4D97-AF65-F5344CB8AC3E}">
        <p14:creationId xmlns:p14="http://schemas.microsoft.com/office/powerpoint/2010/main" val="13998702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nfo boxes rectangle White">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881457"/>
            <a:ext cx="3367127" cy="2825264"/>
          </a:xfrm>
          <a:prstGeom prst="round2DiagRect">
            <a:avLst/>
          </a:prstGeom>
          <a:solidFill>
            <a:srgbClr val="939393"/>
          </a:solidFill>
        </p:spPr>
        <p:txBody>
          <a:bodyPr>
            <a:normAutofit/>
          </a:bodyPr>
          <a:lstStyle>
            <a:lvl1pPr marL="0" indent="0" algn="ctr">
              <a:buNone/>
              <a:defRPr sz="3000" cap="all" baseline="0">
                <a:latin typeface="+mj-lt"/>
              </a:defRPr>
            </a:lvl1pPr>
          </a:lstStyle>
          <a:p>
            <a:pPr lvl="0"/>
            <a:r>
              <a:rPr lang="en-US" dirty="0"/>
              <a:t>Click to edit Master text styles</a:t>
            </a:r>
          </a:p>
          <a:p>
            <a:pPr lvl="0"/>
            <a:endParaRPr lang="en-US" dirty="0"/>
          </a:p>
          <a:p>
            <a:pPr lvl="0"/>
            <a:endParaRPr lang="en-US" dirty="0"/>
          </a:p>
        </p:txBody>
      </p:sp>
      <p:sp>
        <p:nvSpPr>
          <p:cNvPr id="4" name="Content Placeholder 3"/>
          <p:cNvSpPr>
            <a:spLocks noGrp="1"/>
          </p:cNvSpPr>
          <p:nvPr>
            <p:ph sz="half" idx="2"/>
          </p:nvPr>
        </p:nvSpPr>
        <p:spPr>
          <a:xfrm>
            <a:off x="5066985" y="864788"/>
            <a:ext cx="3366900" cy="2841933"/>
          </a:xfrm>
          <a:prstGeom prst="round2DiagRect">
            <a:avLst/>
          </a:prstGeom>
          <a:solidFill>
            <a:srgbClr val="787878"/>
          </a:solidFill>
        </p:spPr>
        <p:txBody>
          <a:bodyPr>
            <a:normAutofit/>
          </a:bodyPr>
          <a:lstStyle>
            <a:lvl1pPr marL="0" indent="0" algn="ctr">
              <a:buNone/>
              <a:defRPr sz="3000" cap="all" baseline="0">
                <a:solidFill>
                  <a:schemeClr val="bg1"/>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p:txBody>
      </p:sp>
      <p:sp>
        <p:nvSpPr>
          <p:cNvPr id="5" name="Date Placeholder 4"/>
          <p:cNvSpPr>
            <a:spLocks noGrp="1"/>
          </p:cNvSpPr>
          <p:nvPr>
            <p:ph type="dt" sz="half" idx="10"/>
          </p:nvPr>
        </p:nvSpPr>
        <p:spPr/>
        <p:txBody>
          <a:bodyPr/>
          <a:lstStyle/>
          <a:p>
            <a:fld id="{428859CC-B640-4DB3-BB6F-301CDED75AAD}" type="datetimeFigureOut">
              <a:rPr lang="sv-SE" smtClean="0"/>
              <a:t>2026-09-02</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50AA12D1-4D5F-4C8C-82B1-BE6DCCEF57B9}" type="slidenum">
              <a:rPr lang="sv-SE" smtClean="0"/>
              <a:t>‹Nº›</a:t>
            </a:fld>
            <a:endParaRPr lang="sv-SE"/>
          </a:p>
        </p:txBody>
      </p:sp>
      <p:sp>
        <p:nvSpPr>
          <p:cNvPr id="12" name="Text Placeholder 3"/>
          <p:cNvSpPr>
            <a:spLocks noGrp="1"/>
          </p:cNvSpPr>
          <p:nvPr>
            <p:ph type="body" sz="half" idx="13"/>
          </p:nvPr>
        </p:nvSpPr>
        <p:spPr>
          <a:xfrm>
            <a:off x="862569" y="1850446"/>
            <a:ext cx="2946173" cy="2266409"/>
          </a:xfrm>
        </p:spPr>
        <p:txBody>
          <a:bodyPr>
            <a:normAutofit/>
          </a:bodyPr>
          <a:lstStyle>
            <a:lvl1pPr marL="0" indent="0" algn="ctr">
              <a:buNone/>
              <a:defRPr sz="21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13" name="Text Placeholder 3"/>
          <p:cNvSpPr>
            <a:spLocks noGrp="1"/>
          </p:cNvSpPr>
          <p:nvPr>
            <p:ph type="body" sz="half" idx="14"/>
          </p:nvPr>
        </p:nvSpPr>
        <p:spPr>
          <a:xfrm>
            <a:off x="5242686" y="1850446"/>
            <a:ext cx="3038745" cy="2266409"/>
          </a:xfrm>
        </p:spPr>
        <p:txBody>
          <a:bodyPr>
            <a:normAutofit/>
          </a:bodyPr>
          <a:lstStyle>
            <a:lvl1pPr marL="0" indent="0" algn="ctr">
              <a:buNone/>
              <a:defRPr sz="2100">
                <a:solidFill>
                  <a:schemeClr val="bg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cxnSp>
        <p:nvCxnSpPr>
          <p:cNvPr id="11" name="Rak 7"/>
          <p:cNvCxnSpPr/>
          <p:nvPr userDrawn="1"/>
        </p:nvCxnSpPr>
        <p:spPr>
          <a:xfrm>
            <a:off x="390526" y="4924675"/>
            <a:ext cx="6717767" cy="0"/>
          </a:xfrm>
          <a:prstGeom prst="line">
            <a:avLst/>
          </a:prstGeom>
          <a:ln w="9525" cmpd="sng">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6" name="Bildobjekt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41193" y="4771395"/>
            <a:ext cx="1517057" cy="239383"/>
          </a:xfrm>
          <a:prstGeom prst="rect">
            <a:avLst/>
          </a:prstGeom>
        </p:spPr>
      </p:pic>
    </p:spTree>
    <p:extLst>
      <p:ext uri="{BB962C8B-B14F-4D97-AF65-F5344CB8AC3E}">
        <p14:creationId xmlns:p14="http://schemas.microsoft.com/office/powerpoint/2010/main" val="25135756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nfo boxes teardrop">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62569" y="881457"/>
            <a:ext cx="2848500" cy="2847935"/>
          </a:xfrm>
          <a:prstGeom prst="teardrop">
            <a:avLst/>
          </a:prstGeom>
          <a:solidFill>
            <a:srgbClr val="939393"/>
          </a:solidFill>
        </p:spPr>
        <p:txBody>
          <a:bodyPr>
            <a:normAutofit/>
          </a:bodyPr>
          <a:lstStyle>
            <a:lvl1pPr marL="0" indent="0" algn="ctr">
              <a:buNone/>
              <a:defRPr sz="3000" cap="all" baseline="0">
                <a:latin typeface="+mj-lt"/>
              </a:defRPr>
            </a:lvl1pPr>
          </a:lstStyle>
          <a:p>
            <a:pPr lvl="0"/>
            <a:r>
              <a:rPr lang="en-US" dirty="0"/>
              <a:t>Click to edit Master text styles</a:t>
            </a:r>
          </a:p>
          <a:p>
            <a:pPr lvl="0"/>
            <a:endParaRPr lang="en-US" dirty="0"/>
          </a:p>
          <a:p>
            <a:pPr lvl="0"/>
            <a:endParaRPr lang="en-US" dirty="0"/>
          </a:p>
        </p:txBody>
      </p:sp>
      <p:sp>
        <p:nvSpPr>
          <p:cNvPr id="4" name="Content Placeholder 3"/>
          <p:cNvSpPr>
            <a:spLocks noGrp="1"/>
          </p:cNvSpPr>
          <p:nvPr>
            <p:ph sz="half" idx="2"/>
          </p:nvPr>
        </p:nvSpPr>
        <p:spPr>
          <a:xfrm>
            <a:off x="5066985" y="864788"/>
            <a:ext cx="2848500" cy="2848500"/>
          </a:xfrm>
          <a:prstGeom prst="teardrop">
            <a:avLst/>
          </a:prstGeom>
          <a:solidFill>
            <a:schemeClr val="bg1"/>
          </a:solidFill>
        </p:spPr>
        <p:txBody>
          <a:bodyPr>
            <a:normAutofit/>
          </a:bodyPr>
          <a:lstStyle>
            <a:lvl1pPr marL="0" indent="0" algn="ctr">
              <a:buNone/>
              <a:defRPr sz="3000" cap="all" baseline="0">
                <a:solidFill>
                  <a:srgbClr val="787878"/>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p:txBody>
      </p:sp>
      <p:sp>
        <p:nvSpPr>
          <p:cNvPr id="5" name="Date Placeholder 4"/>
          <p:cNvSpPr>
            <a:spLocks noGrp="1"/>
          </p:cNvSpPr>
          <p:nvPr>
            <p:ph type="dt" sz="half" idx="10"/>
          </p:nvPr>
        </p:nvSpPr>
        <p:spPr/>
        <p:txBody>
          <a:bodyPr/>
          <a:lstStyle/>
          <a:p>
            <a:fld id="{428859CC-B640-4DB3-BB6F-301CDED75AAD}" type="datetimeFigureOut">
              <a:rPr lang="sv-SE" smtClean="0"/>
              <a:t>2026-09-02</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50AA12D1-4D5F-4C8C-82B1-BE6DCCEF57B9}" type="slidenum">
              <a:rPr lang="sv-SE" smtClean="0"/>
              <a:t>‹Nº›</a:t>
            </a:fld>
            <a:endParaRPr lang="sv-SE"/>
          </a:p>
        </p:txBody>
      </p:sp>
      <p:sp>
        <p:nvSpPr>
          <p:cNvPr id="12" name="Text Placeholder 3"/>
          <p:cNvSpPr>
            <a:spLocks noGrp="1"/>
          </p:cNvSpPr>
          <p:nvPr>
            <p:ph type="body" sz="half" idx="13"/>
          </p:nvPr>
        </p:nvSpPr>
        <p:spPr>
          <a:xfrm>
            <a:off x="813733" y="2113390"/>
            <a:ext cx="2946173" cy="2266409"/>
          </a:xfrm>
        </p:spPr>
        <p:txBody>
          <a:bodyPr>
            <a:normAutofit/>
          </a:bodyPr>
          <a:lstStyle>
            <a:lvl1pPr marL="0" indent="0" algn="ctr">
              <a:buNone/>
              <a:defRPr sz="21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13" name="Text Placeholder 3"/>
          <p:cNvSpPr>
            <a:spLocks noGrp="1"/>
          </p:cNvSpPr>
          <p:nvPr>
            <p:ph type="body" sz="half" idx="14"/>
          </p:nvPr>
        </p:nvSpPr>
        <p:spPr>
          <a:xfrm>
            <a:off x="4971863" y="2113391"/>
            <a:ext cx="3038745" cy="2266409"/>
          </a:xfrm>
        </p:spPr>
        <p:txBody>
          <a:bodyPr>
            <a:normAutofit/>
          </a:bodyPr>
          <a:lstStyle>
            <a:lvl1pPr marL="0" indent="0" algn="ctr">
              <a:buNone/>
              <a:defRPr sz="2100">
                <a:solidFill>
                  <a:srgbClr val="787878"/>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cxnSp>
        <p:nvCxnSpPr>
          <p:cNvPr id="14" name="Rak 7"/>
          <p:cNvCxnSpPr/>
          <p:nvPr userDrawn="1"/>
        </p:nvCxnSpPr>
        <p:spPr>
          <a:xfrm>
            <a:off x="390526" y="4924675"/>
            <a:ext cx="6717767"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5" name="Bildobjekt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41193" y="4771394"/>
            <a:ext cx="1517057" cy="239384"/>
          </a:xfrm>
          <a:prstGeom prst="rect">
            <a:avLst/>
          </a:prstGeom>
        </p:spPr>
      </p:pic>
    </p:spTree>
    <p:extLst>
      <p:ext uri="{BB962C8B-B14F-4D97-AF65-F5344CB8AC3E}">
        <p14:creationId xmlns:p14="http://schemas.microsoft.com/office/powerpoint/2010/main" val="11657035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nfo boxes teardrop White">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719334" y="881456"/>
            <a:ext cx="2848500" cy="2848500"/>
          </a:xfrm>
          <a:prstGeom prst="teardrop">
            <a:avLst/>
          </a:prstGeom>
          <a:solidFill>
            <a:srgbClr val="939393"/>
          </a:solidFill>
        </p:spPr>
        <p:txBody>
          <a:bodyPr>
            <a:normAutofit/>
          </a:bodyPr>
          <a:lstStyle>
            <a:lvl1pPr marL="0" indent="0" algn="ctr">
              <a:buNone/>
              <a:defRPr sz="3000" cap="all" baseline="0">
                <a:latin typeface="+mj-lt"/>
              </a:defRPr>
            </a:lvl1pPr>
          </a:lstStyle>
          <a:p>
            <a:pPr lvl="0"/>
            <a:r>
              <a:rPr lang="en-US" dirty="0"/>
              <a:t>Click to edit Master text styles</a:t>
            </a:r>
          </a:p>
          <a:p>
            <a:pPr lvl="0"/>
            <a:endParaRPr lang="en-US" dirty="0"/>
          </a:p>
          <a:p>
            <a:pPr lvl="0"/>
            <a:endParaRPr lang="en-US" dirty="0"/>
          </a:p>
        </p:txBody>
      </p:sp>
      <p:sp>
        <p:nvSpPr>
          <p:cNvPr id="4" name="Content Placeholder 3"/>
          <p:cNvSpPr>
            <a:spLocks noGrp="1"/>
          </p:cNvSpPr>
          <p:nvPr>
            <p:ph sz="half" idx="2"/>
          </p:nvPr>
        </p:nvSpPr>
        <p:spPr>
          <a:xfrm>
            <a:off x="5066985" y="864788"/>
            <a:ext cx="2848500" cy="2848500"/>
          </a:xfrm>
          <a:prstGeom prst="teardrop">
            <a:avLst/>
          </a:prstGeom>
          <a:solidFill>
            <a:srgbClr val="787878"/>
          </a:solidFill>
        </p:spPr>
        <p:txBody>
          <a:bodyPr>
            <a:normAutofit/>
          </a:bodyPr>
          <a:lstStyle>
            <a:lvl1pPr marL="0" indent="0" algn="ctr">
              <a:buNone/>
              <a:defRPr sz="3000" cap="all" baseline="0">
                <a:solidFill>
                  <a:schemeClr val="bg1"/>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p:txBody>
      </p:sp>
      <p:sp>
        <p:nvSpPr>
          <p:cNvPr id="5" name="Date Placeholder 4"/>
          <p:cNvSpPr>
            <a:spLocks noGrp="1"/>
          </p:cNvSpPr>
          <p:nvPr>
            <p:ph type="dt" sz="half" idx="10"/>
          </p:nvPr>
        </p:nvSpPr>
        <p:spPr/>
        <p:txBody>
          <a:bodyPr/>
          <a:lstStyle/>
          <a:p>
            <a:fld id="{428859CC-B640-4DB3-BB6F-301CDED75AAD}" type="datetimeFigureOut">
              <a:rPr lang="sv-SE" smtClean="0"/>
              <a:t>2026-09-02</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50AA12D1-4D5F-4C8C-82B1-BE6DCCEF57B9}" type="slidenum">
              <a:rPr lang="sv-SE" smtClean="0"/>
              <a:t>‹Nº›</a:t>
            </a:fld>
            <a:endParaRPr lang="sv-SE"/>
          </a:p>
        </p:txBody>
      </p:sp>
      <p:sp>
        <p:nvSpPr>
          <p:cNvPr id="12" name="Text Placeholder 3"/>
          <p:cNvSpPr>
            <a:spLocks noGrp="1"/>
          </p:cNvSpPr>
          <p:nvPr>
            <p:ph type="body" sz="half" idx="13"/>
          </p:nvPr>
        </p:nvSpPr>
        <p:spPr>
          <a:xfrm>
            <a:off x="670498" y="2113955"/>
            <a:ext cx="2946173" cy="2266409"/>
          </a:xfrm>
        </p:spPr>
        <p:txBody>
          <a:bodyPr>
            <a:normAutofit/>
          </a:bodyPr>
          <a:lstStyle>
            <a:lvl1pPr marL="0" indent="0" algn="ctr">
              <a:buNone/>
              <a:defRPr sz="21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13" name="Text Placeholder 3"/>
          <p:cNvSpPr>
            <a:spLocks noGrp="1"/>
          </p:cNvSpPr>
          <p:nvPr>
            <p:ph type="body" sz="half" idx="14"/>
          </p:nvPr>
        </p:nvSpPr>
        <p:spPr>
          <a:xfrm>
            <a:off x="4971863" y="2113955"/>
            <a:ext cx="3038745" cy="2266409"/>
          </a:xfrm>
        </p:spPr>
        <p:txBody>
          <a:bodyPr>
            <a:normAutofit/>
          </a:bodyPr>
          <a:lstStyle>
            <a:lvl1pPr marL="0" indent="0" algn="ctr">
              <a:buNone/>
              <a:defRPr sz="2100">
                <a:solidFill>
                  <a:schemeClr val="bg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cxnSp>
        <p:nvCxnSpPr>
          <p:cNvPr id="11" name="Rak 7"/>
          <p:cNvCxnSpPr/>
          <p:nvPr userDrawn="1"/>
        </p:nvCxnSpPr>
        <p:spPr>
          <a:xfrm>
            <a:off x="390526" y="4924675"/>
            <a:ext cx="6717767" cy="0"/>
          </a:xfrm>
          <a:prstGeom prst="line">
            <a:avLst/>
          </a:prstGeom>
          <a:ln w="9525" cmpd="sng">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6" name="Bildobjekt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41193" y="4771395"/>
            <a:ext cx="1517057" cy="239383"/>
          </a:xfrm>
          <a:prstGeom prst="rect">
            <a:avLst/>
          </a:prstGeom>
        </p:spPr>
      </p:pic>
    </p:spTree>
    <p:extLst>
      <p:ext uri="{BB962C8B-B14F-4D97-AF65-F5344CB8AC3E}">
        <p14:creationId xmlns:p14="http://schemas.microsoft.com/office/powerpoint/2010/main" val="26519001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cap="all" baseline="0">
                <a:latin typeface="Arial" panose="020B0604020202020204" pitchFamily="34" charset="0"/>
                <a:cs typeface="Arial" panose="020B0604020202020204" pitchFamily="34" charset="0"/>
              </a:defRPr>
            </a:lvl1pPr>
          </a:lstStyle>
          <a:p>
            <a:r>
              <a:rPr lang="en-US" dirty="0"/>
              <a:t>CLICK TO EDIT MASTER TITLE STYLE</a:t>
            </a:r>
            <a:endParaRPr lang="sv-SE" dirty="0"/>
          </a:p>
        </p:txBody>
      </p:sp>
      <p:sp>
        <p:nvSpPr>
          <p:cNvPr id="3" name="Date Placeholder 2"/>
          <p:cNvSpPr>
            <a:spLocks noGrp="1"/>
          </p:cNvSpPr>
          <p:nvPr>
            <p:ph type="dt" sz="half" idx="10"/>
          </p:nvPr>
        </p:nvSpPr>
        <p:spPr/>
        <p:txBody>
          <a:bodyPr/>
          <a:lstStyle/>
          <a:p>
            <a:fld id="{428859CC-B640-4DB3-BB6F-301CDED75AAD}" type="datetimeFigureOut">
              <a:rPr lang="sv-SE" smtClean="0"/>
              <a:t>2026-09-02</a:t>
            </a:fld>
            <a:endParaRPr lang="sv-SE"/>
          </a:p>
        </p:txBody>
      </p:sp>
      <p:sp>
        <p:nvSpPr>
          <p:cNvPr id="4" name="Footer Placeholder 3"/>
          <p:cNvSpPr>
            <a:spLocks noGrp="1"/>
          </p:cNvSpPr>
          <p:nvPr>
            <p:ph type="ftr" sz="quarter" idx="11"/>
          </p:nvPr>
        </p:nvSpPr>
        <p:spPr/>
        <p:txBody>
          <a:bodyPr/>
          <a:lstStyle/>
          <a:p>
            <a:endParaRPr lang="sv-SE"/>
          </a:p>
        </p:txBody>
      </p:sp>
      <p:sp>
        <p:nvSpPr>
          <p:cNvPr id="5" name="Slide Number Placeholder 4"/>
          <p:cNvSpPr>
            <a:spLocks noGrp="1"/>
          </p:cNvSpPr>
          <p:nvPr>
            <p:ph type="sldNum" sz="quarter" idx="12"/>
          </p:nvPr>
        </p:nvSpPr>
        <p:spPr/>
        <p:txBody>
          <a:bodyPr/>
          <a:lstStyle/>
          <a:p>
            <a:fld id="{50AA12D1-4D5F-4C8C-82B1-BE6DCCEF57B9}" type="slidenum">
              <a:rPr lang="sv-SE" smtClean="0"/>
              <a:t>‹Nº›</a:t>
            </a:fld>
            <a:endParaRPr lang="sv-SE"/>
          </a:p>
        </p:txBody>
      </p:sp>
      <p:cxnSp>
        <p:nvCxnSpPr>
          <p:cNvPr id="9" name="Rak 7"/>
          <p:cNvCxnSpPr/>
          <p:nvPr userDrawn="1"/>
        </p:nvCxnSpPr>
        <p:spPr>
          <a:xfrm>
            <a:off x="390526" y="4924675"/>
            <a:ext cx="6717767"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0" name="Bildobjekt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41193" y="4771394"/>
            <a:ext cx="1517057" cy="239384"/>
          </a:xfrm>
          <a:prstGeom prst="rect">
            <a:avLst/>
          </a:prstGeom>
        </p:spPr>
      </p:pic>
    </p:spTree>
    <p:extLst>
      <p:ext uri="{BB962C8B-B14F-4D97-AF65-F5344CB8AC3E}">
        <p14:creationId xmlns:p14="http://schemas.microsoft.com/office/powerpoint/2010/main" val="18516328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Whit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cap="all" baseline="0">
                <a:solidFill>
                  <a:srgbClr val="787878"/>
                </a:solidFill>
              </a:defRPr>
            </a:lvl1pPr>
          </a:lstStyle>
          <a:p>
            <a:r>
              <a:rPr lang="en-US" dirty="0"/>
              <a:t>CLICK TO EDIT MASTER TITLE STYLE</a:t>
            </a:r>
            <a:endParaRPr lang="sv-SE" dirty="0"/>
          </a:p>
        </p:txBody>
      </p:sp>
      <p:sp>
        <p:nvSpPr>
          <p:cNvPr id="3" name="Date Placeholder 2"/>
          <p:cNvSpPr>
            <a:spLocks noGrp="1"/>
          </p:cNvSpPr>
          <p:nvPr>
            <p:ph type="dt" sz="half" idx="10"/>
          </p:nvPr>
        </p:nvSpPr>
        <p:spPr/>
        <p:txBody>
          <a:bodyPr/>
          <a:lstStyle/>
          <a:p>
            <a:fld id="{428859CC-B640-4DB3-BB6F-301CDED75AAD}" type="datetimeFigureOut">
              <a:rPr lang="sv-SE" smtClean="0"/>
              <a:t>2026-09-02</a:t>
            </a:fld>
            <a:endParaRPr lang="sv-SE"/>
          </a:p>
        </p:txBody>
      </p:sp>
      <p:sp>
        <p:nvSpPr>
          <p:cNvPr id="4" name="Footer Placeholder 3"/>
          <p:cNvSpPr>
            <a:spLocks noGrp="1"/>
          </p:cNvSpPr>
          <p:nvPr>
            <p:ph type="ftr" sz="quarter" idx="11"/>
          </p:nvPr>
        </p:nvSpPr>
        <p:spPr/>
        <p:txBody>
          <a:bodyPr/>
          <a:lstStyle/>
          <a:p>
            <a:endParaRPr lang="sv-SE"/>
          </a:p>
        </p:txBody>
      </p:sp>
      <p:sp>
        <p:nvSpPr>
          <p:cNvPr id="5" name="Slide Number Placeholder 4"/>
          <p:cNvSpPr>
            <a:spLocks noGrp="1"/>
          </p:cNvSpPr>
          <p:nvPr>
            <p:ph type="sldNum" sz="quarter" idx="12"/>
          </p:nvPr>
        </p:nvSpPr>
        <p:spPr/>
        <p:txBody>
          <a:bodyPr/>
          <a:lstStyle/>
          <a:p>
            <a:fld id="{50AA12D1-4D5F-4C8C-82B1-BE6DCCEF57B9}" type="slidenum">
              <a:rPr lang="sv-SE" smtClean="0"/>
              <a:t>‹Nº›</a:t>
            </a:fld>
            <a:endParaRPr lang="sv-SE"/>
          </a:p>
        </p:txBody>
      </p:sp>
      <p:cxnSp>
        <p:nvCxnSpPr>
          <p:cNvPr id="8" name="Rak 7"/>
          <p:cNvCxnSpPr/>
          <p:nvPr userDrawn="1"/>
        </p:nvCxnSpPr>
        <p:spPr>
          <a:xfrm>
            <a:off x="390526" y="4924675"/>
            <a:ext cx="6717767" cy="0"/>
          </a:xfrm>
          <a:prstGeom prst="line">
            <a:avLst/>
          </a:prstGeom>
          <a:ln w="9525" cmpd="sng">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1" name="Bildobjekt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41193" y="4771395"/>
            <a:ext cx="1517057" cy="239383"/>
          </a:xfrm>
          <a:prstGeom prst="rect">
            <a:avLst/>
          </a:prstGeom>
        </p:spPr>
      </p:pic>
    </p:spTree>
    <p:extLst>
      <p:ext uri="{BB962C8B-B14F-4D97-AF65-F5344CB8AC3E}">
        <p14:creationId xmlns:p14="http://schemas.microsoft.com/office/powerpoint/2010/main" val="16842662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8859CC-B640-4DB3-BB6F-301CDED75AAD}" type="datetimeFigureOut">
              <a:rPr lang="sv-SE" smtClean="0"/>
              <a:t>2026-09-02</a:t>
            </a:fld>
            <a:endParaRPr lang="sv-SE"/>
          </a:p>
        </p:txBody>
      </p:sp>
      <p:sp>
        <p:nvSpPr>
          <p:cNvPr id="3" name="Footer Placeholder 2"/>
          <p:cNvSpPr>
            <a:spLocks noGrp="1"/>
          </p:cNvSpPr>
          <p:nvPr>
            <p:ph type="ftr" sz="quarter" idx="11"/>
          </p:nvPr>
        </p:nvSpPr>
        <p:spPr/>
        <p:txBody>
          <a:bodyPr/>
          <a:lstStyle/>
          <a:p>
            <a:endParaRPr lang="sv-SE"/>
          </a:p>
        </p:txBody>
      </p:sp>
      <p:sp>
        <p:nvSpPr>
          <p:cNvPr id="4" name="Slide Number Placeholder 3"/>
          <p:cNvSpPr>
            <a:spLocks noGrp="1"/>
          </p:cNvSpPr>
          <p:nvPr>
            <p:ph type="sldNum" sz="quarter" idx="12"/>
          </p:nvPr>
        </p:nvSpPr>
        <p:spPr/>
        <p:txBody>
          <a:bodyPr/>
          <a:lstStyle/>
          <a:p>
            <a:fld id="{50AA12D1-4D5F-4C8C-82B1-BE6DCCEF57B9}" type="slidenum">
              <a:rPr lang="sv-SE" smtClean="0"/>
              <a:t>‹Nº›</a:t>
            </a:fld>
            <a:endParaRPr lang="sv-SE"/>
          </a:p>
        </p:txBody>
      </p:sp>
      <p:cxnSp>
        <p:nvCxnSpPr>
          <p:cNvPr id="8" name="Rak 7"/>
          <p:cNvCxnSpPr/>
          <p:nvPr userDrawn="1"/>
        </p:nvCxnSpPr>
        <p:spPr>
          <a:xfrm>
            <a:off x="390526" y="4924675"/>
            <a:ext cx="6717767"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9" name="Bildobjekt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41193" y="4771394"/>
            <a:ext cx="1517057" cy="239384"/>
          </a:xfrm>
          <a:prstGeom prst="rect">
            <a:avLst/>
          </a:prstGeom>
        </p:spPr>
      </p:pic>
    </p:spTree>
    <p:extLst>
      <p:ext uri="{BB962C8B-B14F-4D97-AF65-F5344CB8AC3E}">
        <p14:creationId xmlns:p14="http://schemas.microsoft.com/office/powerpoint/2010/main" val="32149288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White">
    <p:bg>
      <p:bgPr>
        <a:solidFill>
          <a:schemeClr val="bg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8859CC-B640-4DB3-BB6F-301CDED75AAD}" type="datetimeFigureOut">
              <a:rPr lang="sv-SE" smtClean="0"/>
              <a:t>2026-09-02</a:t>
            </a:fld>
            <a:endParaRPr lang="sv-SE"/>
          </a:p>
        </p:txBody>
      </p:sp>
      <p:sp>
        <p:nvSpPr>
          <p:cNvPr id="3" name="Footer Placeholder 2"/>
          <p:cNvSpPr>
            <a:spLocks noGrp="1"/>
          </p:cNvSpPr>
          <p:nvPr>
            <p:ph type="ftr" sz="quarter" idx="11"/>
          </p:nvPr>
        </p:nvSpPr>
        <p:spPr/>
        <p:txBody>
          <a:bodyPr/>
          <a:lstStyle/>
          <a:p>
            <a:endParaRPr lang="sv-SE"/>
          </a:p>
        </p:txBody>
      </p:sp>
      <p:sp>
        <p:nvSpPr>
          <p:cNvPr id="4" name="Slide Number Placeholder 3"/>
          <p:cNvSpPr>
            <a:spLocks noGrp="1"/>
          </p:cNvSpPr>
          <p:nvPr>
            <p:ph type="sldNum" sz="quarter" idx="12"/>
          </p:nvPr>
        </p:nvSpPr>
        <p:spPr/>
        <p:txBody>
          <a:bodyPr/>
          <a:lstStyle/>
          <a:p>
            <a:fld id="{50AA12D1-4D5F-4C8C-82B1-BE6DCCEF57B9}" type="slidenum">
              <a:rPr lang="sv-SE" smtClean="0"/>
              <a:t>‹Nº›</a:t>
            </a:fld>
            <a:endParaRPr lang="sv-SE"/>
          </a:p>
        </p:txBody>
      </p:sp>
      <p:cxnSp>
        <p:nvCxnSpPr>
          <p:cNvPr id="7" name="Rak 7"/>
          <p:cNvCxnSpPr/>
          <p:nvPr userDrawn="1"/>
        </p:nvCxnSpPr>
        <p:spPr>
          <a:xfrm>
            <a:off x="390526" y="4924675"/>
            <a:ext cx="6717767" cy="0"/>
          </a:xfrm>
          <a:prstGeom prst="line">
            <a:avLst/>
          </a:prstGeom>
          <a:ln w="9525" cmpd="sng">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 name="Bildobjekt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41193" y="4771395"/>
            <a:ext cx="1517057" cy="239383"/>
          </a:xfrm>
          <a:prstGeom prst="rect">
            <a:avLst/>
          </a:prstGeom>
        </p:spPr>
      </p:pic>
    </p:spTree>
    <p:extLst>
      <p:ext uri="{BB962C8B-B14F-4D97-AF65-F5344CB8AC3E}">
        <p14:creationId xmlns:p14="http://schemas.microsoft.com/office/powerpoint/2010/main" val="24150014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icture with border">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390525" y="357070"/>
            <a:ext cx="8349174" cy="4027383"/>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sv-SE"/>
          </a:p>
        </p:txBody>
      </p:sp>
      <p:sp>
        <p:nvSpPr>
          <p:cNvPr id="5" name="Date Placeholder 4"/>
          <p:cNvSpPr>
            <a:spLocks noGrp="1"/>
          </p:cNvSpPr>
          <p:nvPr>
            <p:ph type="dt" sz="half" idx="10"/>
          </p:nvPr>
        </p:nvSpPr>
        <p:spPr/>
        <p:txBody>
          <a:bodyPr/>
          <a:lstStyle/>
          <a:p>
            <a:fld id="{428859CC-B640-4DB3-BB6F-301CDED75AAD}" type="datetimeFigureOut">
              <a:rPr lang="sv-SE" smtClean="0"/>
              <a:t>2026-09-02</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50AA12D1-4D5F-4C8C-82B1-BE6DCCEF57B9}" type="slidenum">
              <a:rPr lang="sv-SE" smtClean="0"/>
              <a:t>‹Nº›</a:t>
            </a:fld>
            <a:endParaRPr lang="sv-SE"/>
          </a:p>
        </p:txBody>
      </p:sp>
      <p:cxnSp>
        <p:nvCxnSpPr>
          <p:cNvPr id="11" name="Rak 7"/>
          <p:cNvCxnSpPr/>
          <p:nvPr userDrawn="1"/>
        </p:nvCxnSpPr>
        <p:spPr>
          <a:xfrm>
            <a:off x="390526" y="4924675"/>
            <a:ext cx="6717767"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2" name="Bildobjekt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41193" y="4771394"/>
            <a:ext cx="1517057" cy="239384"/>
          </a:xfrm>
          <a:prstGeom prst="rect">
            <a:avLst/>
          </a:prstGeom>
        </p:spPr>
      </p:pic>
    </p:spTree>
    <p:extLst>
      <p:ext uri="{BB962C8B-B14F-4D97-AF65-F5344CB8AC3E}">
        <p14:creationId xmlns:p14="http://schemas.microsoft.com/office/powerpoint/2010/main" val="30539198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icture with border White">
    <p:bg>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390525" y="357070"/>
            <a:ext cx="8349174" cy="4027383"/>
          </a:xfrm>
        </p:spPr>
        <p:txBody>
          <a:bodyPr/>
          <a:lstStyle>
            <a:lvl1pPr marL="0" indent="0">
              <a:buNone/>
              <a:defRPr sz="2400">
                <a:solidFill>
                  <a:schemeClr val="tx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sv-SE" dirty="0"/>
          </a:p>
        </p:txBody>
      </p:sp>
      <p:sp>
        <p:nvSpPr>
          <p:cNvPr id="5" name="Date Placeholder 4"/>
          <p:cNvSpPr>
            <a:spLocks noGrp="1"/>
          </p:cNvSpPr>
          <p:nvPr>
            <p:ph type="dt" sz="half" idx="10"/>
          </p:nvPr>
        </p:nvSpPr>
        <p:spPr/>
        <p:txBody>
          <a:bodyPr/>
          <a:lstStyle/>
          <a:p>
            <a:fld id="{428859CC-B640-4DB3-BB6F-301CDED75AAD}" type="datetimeFigureOut">
              <a:rPr lang="sv-SE" smtClean="0"/>
              <a:t>2026-09-02</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50AA12D1-4D5F-4C8C-82B1-BE6DCCEF57B9}" type="slidenum">
              <a:rPr lang="sv-SE" smtClean="0"/>
              <a:t>‹Nº›</a:t>
            </a:fld>
            <a:endParaRPr lang="sv-SE"/>
          </a:p>
        </p:txBody>
      </p:sp>
      <p:cxnSp>
        <p:nvCxnSpPr>
          <p:cNvPr id="8" name="Rak 7"/>
          <p:cNvCxnSpPr/>
          <p:nvPr userDrawn="1"/>
        </p:nvCxnSpPr>
        <p:spPr>
          <a:xfrm>
            <a:off x="390526" y="4924675"/>
            <a:ext cx="6717767" cy="0"/>
          </a:xfrm>
          <a:prstGeom prst="line">
            <a:avLst/>
          </a:prstGeom>
          <a:ln w="9525" cmpd="sng">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1" name="Bildobjekt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41193" y="4771395"/>
            <a:ext cx="1517057" cy="239383"/>
          </a:xfrm>
          <a:prstGeom prst="rect">
            <a:avLst/>
          </a:prstGeom>
        </p:spPr>
      </p:pic>
    </p:spTree>
    <p:extLst>
      <p:ext uri="{BB962C8B-B14F-4D97-AF65-F5344CB8AC3E}">
        <p14:creationId xmlns:p14="http://schemas.microsoft.com/office/powerpoint/2010/main" val="35914052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icture without border">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0" y="0"/>
            <a:ext cx="9144000" cy="4384453"/>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sv-SE"/>
          </a:p>
        </p:txBody>
      </p:sp>
      <p:sp>
        <p:nvSpPr>
          <p:cNvPr id="5" name="Date Placeholder 4"/>
          <p:cNvSpPr>
            <a:spLocks noGrp="1"/>
          </p:cNvSpPr>
          <p:nvPr>
            <p:ph type="dt" sz="half" idx="10"/>
          </p:nvPr>
        </p:nvSpPr>
        <p:spPr/>
        <p:txBody>
          <a:bodyPr/>
          <a:lstStyle/>
          <a:p>
            <a:fld id="{428859CC-B640-4DB3-BB6F-301CDED75AAD}" type="datetimeFigureOut">
              <a:rPr lang="sv-SE" smtClean="0"/>
              <a:t>2026-09-02</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50AA12D1-4D5F-4C8C-82B1-BE6DCCEF57B9}" type="slidenum">
              <a:rPr lang="sv-SE" smtClean="0"/>
              <a:t>‹Nº›</a:t>
            </a:fld>
            <a:endParaRPr lang="sv-SE"/>
          </a:p>
        </p:txBody>
      </p:sp>
      <p:cxnSp>
        <p:nvCxnSpPr>
          <p:cNvPr id="11" name="Rak 7"/>
          <p:cNvCxnSpPr/>
          <p:nvPr userDrawn="1"/>
        </p:nvCxnSpPr>
        <p:spPr>
          <a:xfrm>
            <a:off x="390526" y="4924675"/>
            <a:ext cx="6717767"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2" name="Bildobjekt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41193" y="4771394"/>
            <a:ext cx="1517057" cy="239384"/>
          </a:xfrm>
          <a:prstGeom prst="rect">
            <a:avLst/>
          </a:prstGeom>
        </p:spPr>
      </p:pic>
    </p:spTree>
    <p:extLst>
      <p:ext uri="{BB962C8B-B14F-4D97-AF65-F5344CB8AC3E}">
        <p14:creationId xmlns:p14="http://schemas.microsoft.com/office/powerpoint/2010/main" val="8872549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icture without border White">
    <p:bg>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0" y="0"/>
            <a:ext cx="9144000" cy="4384453"/>
          </a:xfrm>
        </p:spPr>
        <p:txBody>
          <a:bodyPr/>
          <a:lstStyle>
            <a:lvl1pPr marL="0" indent="0">
              <a:buNone/>
              <a:defRPr sz="2400">
                <a:solidFill>
                  <a:schemeClr val="tx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sv-SE" dirty="0"/>
          </a:p>
        </p:txBody>
      </p:sp>
      <p:sp>
        <p:nvSpPr>
          <p:cNvPr id="5" name="Date Placeholder 4"/>
          <p:cNvSpPr>
            <a:spLocks noGrp="1"/>
          </p:cNvSpPr>
          <p:nvPr>
            <p:ph type="dt" sz="half" idx="10"/>
          </p:nvPr>
        </p:nvSpPr>
        <p:spPr/>
        <p:txBody>
          <a:bodyPr/>
          <a:lstStyle/>
          <a:p>
            <a:fld id="{428859CC-B640-4DB3-BB6F-301CDED75AAD}" type="datetimeFigureOut">
              <a:rPr lang="sv-SE" smtClean="0"/>
              <a:t>2026-09-02</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50AA12D1-4D5F-4C8C-82B1-BE6DCCEF57B9}" type="slidenum">
              <a:rPr lang="sv-SE" smtClean="0"/>
              <a:t>‹Nº›</a:t>
            </a:fld>
            <a:endParaRPr lang="sv-SE"/>
          </a:p>
        </p:txBody>
      </p:sp>
      <p:cxnSp>
        <p:nvCxnSpPr>
          <p:cNvPr id="8" name="Rak 7"/>
          <p:cNvCxnSpPr/>
          <p:nvPr userDrawn="1"/>
        </p:nvCxnSpPr>
        <p:spPr>
          <a:xfrm>
            <a:off x="390526" y="4924675"/>
            <a:ext cx="6717767" cy="0"/>
          </a:xfrm>
          <a:prstGeom prst="line">
            <a:avLst/>
          </a:prstGeom>
          <a:ln w="9525" cmpd="sng">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1" name="Bildobjekt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41193" y="4771395"/>
            <a:ext cx="1517057" cy="239383"/>
          </a:xfrm>
          <a:prstGeom prst="rect">
            <a:avLst/>
          </a:prstGeom>
        </p:spPr>
      </p:pic>
    </p:spTree>
    <p:extLst>
      <p:ext uri="{BB962C8B-B14F-4D97-AF65-F5344CB8AC3E}">
        <p14:creationId xmlns:p14="http://schemas.microsoft.com/office/powerpoint/2010/main" val="25086522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slideLayout" Target="../slideLayouts/slideLayout22.xml"/><Relationship Id="rId3" Type="http://schemas.openxmlformats.org/officeDocument/2006/relationships/slideLayout" Target="../slideLayouts/slideLayout7.xml"/><Relationship Id="rId21" Type="http://schemas.openxmlformats.org/officeDocument/2006/relationships/slideLayout" Target="../slideLayouts/slideLayout25.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5" Type="http://schemas.openxmlformats.org/officeDocument/2006/relationships/theme" Target="../theme/theme3.xml"/><Relationship Id="rId2" Type="http://schemas.openxmlformats.org/officeDocument/2006/relationships/slideLayout" Target="../slideLayouts/slideLayout6.xml"/><Relationship Id="rId16" Type="http://schemas.openxmlformats.org/officeDocument/2006/relationships/slideLayout" Target="../slideLayouts/slideLayout20.xml"/><Relationship Id="rId20" Type="http://schemas.openxmlformats.org/officeDocument/2006/relationships/slideLayout" Target="../slideLayouts/slideLayout24.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24" Type="http://schemas.openxmlformats.org/officeDocument/2006/relationships/slideLayout" Target="../slideLayouts/slideLayout28.xml"/><Relationship Id="rId5" Type="http://schemas.openxmlformats.org/officeDocument/2006/relationships/slideLayout" Target="../slideLayouts/slideLayout9.xml"/><Relationship Id="rId15" Type="http://schemas.openxmlformats.org/officeDocument/2006/relationships/slideLayout" Target="../slideLayouts/slideLayout19.xml"/><Relationship Id="rId23" Type="http://schemas.openxmlformats.org/officeDocument/2006/relationships/slideLayout" Target="../slideLayouts/slideLayout27.xml"/><Relationship Id="rId10" Type="http://schemas.openxmlformats.org/officeDocument/2006/relationships/slideLayout" Target="../slideLayouts/slideLayout14.xml"/><Relationship Id="rId19" Type="http://schemas.openxmlformats.org/officeDocument/2006/relationships/slideLayout" Target="../slideLayouts/slideLayout23.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 Id="rId22"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1pPr>
            <a:lvl2pPr lvl="1">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2pPr>
            <a:lvl3pPr lvl="2">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3pPr>
            <a:lvl4pPr lvl="3">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4pPr>
            <a:lvl5pPr lvl="4">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5pPr>
            <a:lvl6pPr lvl="5">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6pPr>
            <a:lvl7pPr lvl="6">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7pPr>
            <a:lvl8pPr lvl="7">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8pPr>
            <a:lvl9pPr lvl="8">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00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8" r:id="rId2"/>
    <p:sldLayoutId id="2147483677"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177"/>
        <p:cNvGrpSpPr/>
        <p:nvPr/>
      </p:nvGrpSpPr>
      <p:grpSpPr>
        <a:xfrm>
          <a:off x="0" y="0"/>
          <a:ext cx="0" cy="0"/>
          <a:chOff x="0" y="0"/>
          <a:chExt cx="0" cy="0"/>
        </a:xfrm>
      </p:grpSpPr>
      <p:sp>
        <p:nvSpPr>
          <p:cNvPr id="178" name="Google Shape;178;p28"/>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179" name="Google Shape;179;p28"/>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78787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dirty="0"/>
              <a:t>CLICK TO EDIT MASTER TITLE STYLE</a:t>
            </a:r>
            <a:endParaRPr lang="sv-SE"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sv-SE"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428859CC-B640-4DB3-BB6F-301CDED75AAD}" type="datetimeFigureOut">
              <a:rPr lang="sv-SE" smtClean="0"/>
              <a:t>2026-09-02</a:t>
            </a:fld>
            <a:endParaRPr lang="sv-SE"/>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sv-SE"/>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50AA12D1-4D5F-4C8C-82B1-BE6DCCEF57B9}" type="slidenum">
              <a:rPr lang="sv-SE" smtClean="0"/>
              <a:t>‹Nº›</a:t>
            </a:fld>
            <a:endParaRPr lang="sv-SE"/>
          </a:p>
        </p:txBody>
      </p:sp>
    </p:spTree>
    <p:extLst>
      <p:ext uri="{BB962C8B-B14F-4D97-AF65-F5344CB8AC3E}">
        <p14:creationId xmlns:p14="http://schemas.microsoft.com/office/powerpoint/2010/main" val="258544699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 id="2147483698" r:id="rId20"/>
    <p:sldLayoutId id="2147483699" r:id="rId21"/>
    <p:sldLayoutId id="2147483700" r:id="rId22"/>
    <p:sldLayoutId id="2147483701" r:id="rId23"/>
    <p:sldLayoutId id="2147483702" r:id="rId24"/>
  </p:sldLayoutIdLst>
  <p:txStyles>
    <p:titleStyle>
      <a:lvl1pPr algn="l" defTabSz="685800" rtl="0" eaLnBrk="1" latinLnBrk="0" hangingPunct="1">
        <a:lnSpc>
          <a:spcPct val="90000"/>
        </a:lnSpc>
        <a:spcBef>
          <a:spcPct val="0"/>
        </a:spcBef>
        <a:buNone/>
        <a:defRPr sz="3300" kern="1200">
          <a:solidFill>
            <a:schemeClr val="bg1"/>
          </a:solidFill>
          <a:latin typeface="Arial" panose="020B0604020202020204" pitchFamily="34" charset="0"/>
          <a:ea typeface="+mj-ea"/>
          <a:cs typeface="Arial" panose="020B060402020202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bg1"/>
          </a:solidFill>
          <a:latin typeface="Georgia" panose="02040502050405020303" pitchFamily="18"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bg1"/>
          </a:solidFill>
          <a:latin typeface="Georgia" panose="02040502050405020303" pitchFamily="18"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bg1"/>
          </a:solidFill>
          <a:latin typeface="Georgia" panose="02040502050405020303" pitchFamily="18"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bg1"/>
          </a:solidFill>
          <a:latin typeface="Georgia" panose="02040502050405020303" pitchFamily="18"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bg1"/>
          </a:solidFill>
          <a:latin typeface="Georgia" panose="02040502050405020303" pitchFamily="18"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sv-S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11.xml"/><Relationship Id="rId5" Type="http://schemas.openxmlformats.org/officeDocument/2006/relationships/image" Target="../media/image13.sv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hyperlink" Target="http://thecatapi.com/api/images/get?format=src&amp;type=gif"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hyperlink" Target="http://thecatapi.com/docs.html" TargetMode="External"/><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hyperlink" Target="http://thecatapi.com/api/images/get?format=src&amp;type=gif" TargetMode="External"/><Relationship Id="rId4" Type="http://schemas.openxmlformats.org/officeDocument/2006/relationships/hyperlink" Target="http://thecatapi.com/api/images/get?format=xml&amp;results_per_page=20"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hyperlink" Target="http://bit.ly/2PfT4lq" TargetMode="External"/><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88"/>
        <p:cNvGrpSpPr/>
        <p:nvPr/>
      </p:nvGrpSpPr>
      <p:grpSpPr>
        <a:xfrm>
          <a:off x="0" y="0"/>
          <a:ext cx="0" cy="0"/>
          <a:chOff x="0" y="0"/>
          <a:chExt cx="0" cy="0"/>
        </a:xfrm>
      </p:grpSpPr>
      <p:sp>
        <p:nvSpPr>
          <p:cNvPr id="91" name="Google Shape;91;p1"/>
          <p:cNvSpPr/>
          <p:nvPr/>
        </p:nvSpPr>
        <p:spPr>
          <a:xfrm>
            <a:off x="2591479" y="1567164"/>
            <a:ext cx="3961040" cy="742168"/>
          </a:xfrm>
          <a:prstGeom prst="roundRect">
            <a:avLst>
              <a:gd name="adj" fmla="val 50000"/>
            </a:avLst>
          </a:prstGeom>
          <a:solidFill>
            <a:schemeClr val="lt1"/>
          </a:solidFill>
          <a:ln>
            <a:noFill/>
          </a:ln>
        </p:spPr>
        <p:txBody>
          <a:bodyPr spcFirstLastPara="1" wrap="square" lIns="68569" tIns="34275" rIns="68569" bIns="34275" anchor="ctr" anchorCtr="0">
            <a:noAutofit/>
          </a:bodyPr>
          <a:lstStyle/>
          <a:p>
            <a:pPr algn="ctr">
              <a:buClr>
                <a:schemeClr val="lt1"/>
              </a:buClr>
              <a:buSzPts val="1800"/>
            </a:pPr>
            <a:r>
              <a:rPr lang="es-CO" sz="2100" dirty="0">
                <a:solidFill>
                  <a:schemeClr val="tx1"/>
                </a:solidFill>
                <a:latin typeface="+mj-lt"/>
                <a:ea typeface="Calibri"/>
                <a:cs typeface="Calibri"/>
                <a:sym typeface="Calibri"/>
              </a:rPr>
              <a:t>Servicios web</a:t>
            </a:r>
          </a:p>
        </p:txBody>
      </p:sp>
      <p:sp>
        <p:nvSpPr>
          <p:cNvPr id="98" name="Google Shape;98;p1"/>
          <p:cNvSpPr txBox="1"/>
          <p:nvPr/>
        </p:nvSpPr>
        <p:spPr>
          <a:xfrm>
            <a:off x="2285997" y="2800662"/>
            <a:ext cx="4572000" cy="346218"/>
          </a:xfrm>
          <a:prstGeom prst="rect">
            <a:avLst/>
          </a:prstGeom>
          <a:noFill/>
          <a:ln>
            <a:noFill/>
          </a:ln>
        </p:spPr>
        <p:txBody>
          <a:bodyPr spcFirstLastPara="1" wrap="square" lIns="68569" tIns="34275" rIns="68569" bIns="34275" anchor="t" anchorCtr="0">
            <a:spAutoFit/>
          </a:bodyPr>
          <a:lstStyle/>
          <a:p>
            <a:pPr algn="ctr">
              <a:buClr>
                <a:srgbClr val="FFFFFF"/>
              </a:buClr>
              <a:buSzPts val="1800"/>
            </a:pPr>
            <a:r>
              <a:rPr lang="es-CO" sz="1800" b="1" dirty="0">
                <a:solidFill>
                  <a:srgbClr val="FFFFFF"/>
                </a:solidFill>
              </a:rPr>
              <a:t>Generalidades y API</a:t>
            </a:r>
            <a:endParaRPr lang="es-CO" sz="1350" dirty="0"/>
          </a:p>
        </p:txBody>
      </p:sp>
      <p:sp>
        <p:nvSpPr>
          <p:cNvPr id="3" name="Google Shape;98;p1">
            <a:extLst>
              <a:ext uri="{FF2B5EF4-FFF2-40B4-BE49-F238E27FC236}">
                <a16:creationId xmlns:a16="http://schemas.microsoft.com/office/drawing/2014/main" id="{F6E5FE4C-F0A4-04D9-BDF6-552D3C5B8C83}"/>
              </a:ext>
            </a:extLst>
          </p:cNvPr>
          <p:cNvSpPr txBox="1"/>
          <p:nvPr/>
        </p:nvSpPr>
        <p:spPr>
          <a:xfrm>
            <a:off x="2862360" y="3638209"/>
            <a:ext cx="3419275" cy="357760"/>
          </a:xfrm>
          <a:prstGeom prst="rect">
            <a:avLst/>
          </a:prstGeom>
          <a:noFill/>
          <a:ln>
            <a:noFill/>
          </a:ln>
        </p:spPr>
        <p:txBody>
          <a:bodyPr spcFirstLastPara="1" wrap="square" lIns="68569" tIns="34275" rIns="68569" bIns="34275" anchor="t" anchorCtr="0">
            <a:spAutoFit/>
          </a:bodyPr>
          <a:lstStyle/>
          <a:p>
            <a:pPr algn="ctr">
              <a:buClr>
                <a:srgbClr val="FFFFFF"/>
              </a:buClr>
              <a:buSzPts val="1800"/>
            </a:pPr>
            <a:r>
              <a:rPr lang="es-CO" sz="1050" dirty="0">
                <a:solidFill>
                  <a:srgbClr val="FFFFFF"/>
                </a:solidFill>
              </a:rPr>
              <a:t>Norbey Danilo Muñoz Cañón</a:t>
            </a:r>
          </a:p>
          <a:p>
            <a:pPr algn="ctr">
              <a:buClr>
                <a:srgbClr val="FFFFFF"/>
              </a:buClr>
              <a:buSzPts val="1800"/>
            </a:pPr>
            <a:r>
              <a:rPr lang="es-CO" sz="825" dirty="0">
                <a:solidFill>
                  <a:srgbClr val="FFFFFF"/>
                </a:solidFill>
              </a:rPr>
              <a:t>2026</a:t>
            </a:r>
            <a:endParaRPr lang="es-CO" sz="8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Servicios Web (web services)</a:t>
            </a:r>
            <a:endParaRPr dirty="0"/>
          </a:p>
        </p:txBody>
      </p:sp>
      <p:sp>
        <p:nvSpPr>
          <p:cNvPr id="192" name="Google Shape;192;p31"/>
          <p:cNvSpPr txBox="1">
            <a:spLocks noGrp="1"/>
          </p:cNvSpPr>
          <p:nvPr>
            <p:ph type="body" idx="1"/>
          </p:nvPr>
        </p:nvSpPr>
        <p:spPr>
          <a:xfrm>
            <a:off x="765628" y="1286420"/>
            <a:ext cx="7612743" cy="2570659"/>
          </a:xfrm>
          <a:prstGeom prst="rect">
            <a:avLst/>
          </a:prstGeom>
        </p:spPr>
        <p:txBody>
          <a:bodyPr spcFirstLastPara="1" wrap="square" lIns="91425" tIns="91425" rIns="91425" bIns="91425" anchor="t" anchorCtr="0">
            <a:noAutofit/>
          </a:bodyPr>
          <a:lstStyle/>
          <a:p>
            <a:pPr marL="0" lvl="0" indent="0" algn="just">
              <a:buClr>
                <a:schemeClr val="dk1"/>
              </a:buClr>
              <a:buSzPts val="1100"/>
              <a:buNone/>
            </a:pPr>
            <a:r>
              <a:rPr lang="es-CO" sz="1400" dirty="0">
                <a:solidFill>
                  <a:schemeClr val="dk1"/>
                </a:solidFill>
              </a:rPr>
              <a:t>Sistema de software diseñado para permitir la comunicación entre diferentes aplicaciones a través de una red como internet</a:t>
            </a:r>
            <a:r>
              <a:rPr lang="es-ES" sz="1400" dirty="0">
                <a:solidFill>
                  <a:schemeClr val="dk1"/>
                </a:solidFill>
              </a:rPr>
              <a:t>.</a:t>
            </a:r>
          </a:p>
          <a:p>
            <a:pPr marL="0" lvl="0" indent="0" algn="just">
              <a:buClr>
                <a:schemeClr val="dk1"/>
              </a:buClr>
              <a:buSzPts val="1100"/>
              <a:buNone/>
            </a:pPr>
            <a:endParaRPr lang="es-ES" sz="1400" dirty="0">
              <a:solidFill>
                <a:schemeClr val="dk1"/>
              </a:solidFill>
            </a:endParaRPr>
          </a:p>
          <a:p>
            <a:pPr marL="285750" indent="-285750" algn="just">
              <a:buClr>
                <a:schemeClr val="dk1"/>
              </a:buClr>
              <a:buSzPts val="1100"/>
            </a:pPr>
            <a:r>
              <a:rPr lang="es-CO" b="1" dirty="0"/>
              <a:t>Interoperabilidad:</a:t>
            </a:r>
            <a:r>
              <a:rPr lang="es-CO" dirty="0"/>
              <a:t> Permite que programas escritos en distintos lenguajes de programación (como Java, Python o JavaScript) y ejecutados en plataformas diferentes puedan intercambiar datos sin problemas.</a:t>
            </a:r>
            <a:r>
              <a:rPr lang="es-CO" sz="1400" dirty="0"/>
              <a:t> </a:t>
            </a:r>
            <a:r>
              <a:rPr lang="es-CO" sz="1400" b="1" dirty="0"/>
              <a:t>Servicios agnósticos.</a:t>
            </a:r>
          </a:p>
          <a:p>
            <a:pPr marL="285750" indent="-285750" algn="just">
              <a:buClr>
                <a:schemeClr val="dk1"/>
              </a:buClr>
              <a:buSzPts val="1100"/>
            </a:pPr>
            <a:r>
              <a:rPr lang="es-CO" b="1" dirty="0"/>
              <a:t>Independencia:</a:t>
            </a:r>
            <a:r>
              <a:rPr lang="es-CO" sz="1400" dirty="0"/>
              <a:t> Funciona como un puente o intermediario mediante protocolos estándar.</a:t>
            </a:r>
          </a:p>
          <a:p>
            <a:pPr marL="285750" indent="-285750" algn="just">
              <a:buClr>
                <a:schemeClr val="dk1"/>
              </a:buClr>
              <a:buSzPts val="1100"/>
            </a:pPr>
            <a:r>
              <a:rPr lang="es-CO" b="1" dirty="0"/>
              <a:t>Formato de datos:</a:t>
            </a:r>
            <a:r>
              <a:rPr lang="es-CO" sz="1400" dirty="0"/>
              <a:t> A diferencia de una página web normal que devuelve HTML para humanos, un servicio web devuelve datos estructurados en formatos legibles por máquinas como </a:t>
            </a:r>
            <a:r>
              <a:rPr lang="es-CO" b="1" dirty="0"/>
              <a:t>JSON</a:t>
            </a:r>
            <a:r>
              <a:rPr lang="es-CO" sz="1400" dirty="0"/>
              <a:t> o </a:t>
            </a:r>
            <a:r>
              <a:rPr lang="es-CO" b="1" dirty="0"/>
              <a:t>XML.</a:t>
            </a:r>
            <a:endParaRPr lang="en-US" sz="1400" b="1" dirty="0">
              <a:solidFill>
                <a:schemeClr val="dk1"/>
              </a:solidFill>
            </a:endParaRPr>
          </a:p>
          <a:p>
            <a:pPr marL="0" lvl="0" indent="0" algn="just">
              <a:buClr>
                <a:schemeClr val="dk1"/>
              </a:buClr>
              <a:buSzPts val="1100"/>
              <a:buNone/>
            </a:pPr>
            <a:endParaRPr lang="es-ES" sz="1400" dirty="0">
              <a:solidFill>
                <a:schemeClr val="dk1"/>
              </a:solidFill>
            </a:endParaRPr>
          </a:p>
        </p:txBody>
      </p:sp>
    </p:spTree>
    <p:extLst>
      <p:ext uri="{BB962C8B-B14F-4D97-AF65-F5344CB8AC3E}">
        <p14:creationId xmlns:p14="http://schemas.microsoft.com/office/powerpoint/2010/main" val="2012777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000CEDAB-136E-2DB7-0795-9824295FD505}"/>
            </a:ext>
          </a:extLst>
        </p:cNvPr>
        <p:cNvGrpSpPr/>
        <p:nvPr/>
      </p:nvGrpSpPr>
      <p:grpSpPr>
        <a:xfrm>
          <a:off x="0" y="0"/>
          <a:ext cx="0" cy="0"/>
          <a:chOff x="0" y="0"/>
          <a:chExt cx="0" cy="0"/>
        </a:xfrm>
      </p:grpSpPr>
      <p:sp>
        <p:nvSpPr>
          <p:cNvPr id="191" name="Google Shape;191;p31">
            <a:extLst>
              <a:ext uri="{FF2B5EF4-FFF2-40B4-BE49-F238E27FC236}">
                <a16:creationId xmlns:a16="http://schemas.microsoft.com/office/drawing/2014/main" id="{28180695-A744-F7E6-3694-BDE17BB7B0C0}"/>
              </a:ext>
            </a:extLst>
          </p:cNvPr>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Servicios Web (web services)</a:t>
            </a:r>
            <a:endParaRPr dirty="0"/>
          </a:p>
        </p:txBody>
      </p:sp>
      <p:sp>
        <p:nvSpPr>
          <p:cNvPr id="192" name="Google Shape;192;p31">
            <a:extLst>
              <a:ext uri="{FF2B5EF4-FFF2-40B4-BE49-F238E27FC236}">
                <a16:creationId xmlns:a16="http://schemas.microsoft.com/office/drawing/2014/main" id="{4EAD0B76-F06A-6BF8-C2F6-E89BCDADD057}"/>
              </a:ext>
            </a:extLst>
          </p:cNvPr>
          <p:cNvSpPr txBox="1">
            <a:spLocks noGrp="1"/>
          </p:cNvSpPr>
          <p:nvPr>
            <p:ph type="body" idx="1"/>
          </p:nvPr>
        </p:nvSpPr>
        <p:spPr>
          <a:xfrm>
            <a:off x="765628" y="1286420"/>
            <a:ext cx="7612743" cy="2570659"/>
          </a:xfrm>
          <a:prstGeom prst="rect">
            <a:avLst/>
          </a:prstGeom>
        </p:spPr>
        <p:txBody>
          <a:bodyPr spcFirstLastPara="1" wrap="square" lIns="91425" tIns="91425" rIns="91425" bIns="91425" anchor="t" anchorCtr="0">
            <a:noAutofit/>
          </a:bodyPr>
          <a:lstStyle/>
          <a:p>
            <a:pPr marL="139700" indent="0" algn="just">
              <a:buNone/>
            </a:pPr>
            <a:r>
              <a:rPr lang="es-CO" dirty="0"/>
              <a:t>Tipos Comunes</a:t>
            </a:r>
          </a:p>
          <a:p>
            <a:pPr marL="139700" indent="0" algn="just">
              <a:buNone/>
            </a:pPr>
            <a:endParaRPr lang="es-CO" dirty="0"/>
          </a:p>
          <a:p>
            <a:pPr lvl="0" algn="just"/>
            <a:r>
              <a:rPr lang="es-CO" b="1" dirty="0"/>
              <a:t>SOAP:</a:t>
            </a:r>
            <a:r>
              <a:rPr lang="es-CO" dirty="0"/>
              <a:t> Un protocolo más antiguo y estricto basado en XML que utiliza contratos formales (WSDL - </a:t>
            </a:r>
            <a:r>
              <a:rPr lang="es-CO" i="1" dirty="0"/>
              <a:t>Web Services </a:t>
            </a:r>
            <a:r>
              <a:rPr lang="es-CO" i="1" dirty="0" err="1"/>
              <a:t>Description</a:t>
            </a:r>
            <a:r>
              <a:rPr lang="es-CO" i="1" dirty="0"/>
              <a:t> </a:t>
            </a:r>
            <a:r>
              <a:rPr lang="es-CO" i="1" dirty="0" err="1"/>
              <a:t>Language</a:t>
            </a:r>
            <a:r>
              <a:rPr lang="es-CO" dirty="0"/>
              <a:t> o Lenguaje de Descripción de Servicios Web). Es común en banca y gobierno.</a:t>
            </a:r>
          </a:p>
          <a:p>
            <a:pPr lvl="0" algn="just"/>
            <a:r>
              <a:rPr lang="es-CO" b="1" dirty="0"/>
              <a:t>REST:</a:t>
            </a:r>
            <a:r>
              <a:rPr lang="es-CO" dirty="0"/>
              <a:t> Un estilo arquitectónico más moderno que utiliza los verbos de HTTP (GET, POST, PUT, DELETE) y suele trabajar con JSON. Es el más usado en la web actual.</a:t>
            </a:r>
          </a:p>
          <a:p>
            <a:pPr marL="0" lvl="0" indent="0" algn="just">
              <a:buClr>
                <a:schemeClr val="dk1"/>
              </a:buClr>
              <a:buSzPts val="1100"/>
              <a:buNone/>
            </a:pPr>
            <a:endParaRPr lang="es-ES" sz="1400" dirty="0">
              <a:solidFill>
                <a:schemeClr val="dk1"/>
              </a:solidFill>
            </a:endParaRPr>
          </a:p>
        </p:txBody>
      </p:sp>
    </p:spTree>
    <p:extLst>
      <p:ext uri="{BB962C8B-B14F-4D97-AF65-F5344CB8AC3E}">
        <p14:creationId xmlns:p14="http://schemas.microsoft.com/office/powerpoint/2010/main" val="20203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CD7376F2-685F-58D1-3710-F5AEAADB97FB}"/>
            </a:ext>
          </a:extLst>
        </p:cNvPr>
        <p:cNvGrpSpPr/>
        <p:nvPr/>
      </p:nvGrpSpPr>
      <p:grpSpPr>
        <a:xfrm>
          <a:off x="0" y="0"/>
          <a:ext cx="0" cy="0"/>
          <a:chOff x="0" y="0"/>
          <a:chExt cx="0" cy="0"/>
        </a:xfrm>
      </p:grpSpPr>
      <p:sp>
        <p:nvSpPr>
          <p:cNvPr id="191" name="Google Shape;191;p31">
            <a:extLst>
              <a:ext uri="{FF2B5EF4-FFF2-40B4-BE49-F238E27FC236}">
                <a16:creationId xmlns:a16="http://schemas.microsoft.com/office/drawing/2014/main" id="{9455A444-48A6-CF7E-D434-0859660C9EFA}"/>
              </a:ext>
            </a:extLst>
          </p:cNvPr>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API</a:t>
            </a:r>
            <a:endParaRPr dirty="0"/>
          </a:p>
        </p:txBody>
      </p:sp>
      <p:sp>
        <p:nvSpPr>
          <p:cNvPr id="192" name="Google Shape;192;p31">
            <a:extLst>
              <a:ext uri="{FF2B5EF4-FFF2-40B4-BE49-F238E27FC236}">
                <a16:creationId xmlns:a16="http://schemas.microsoft.com/office/drawing/2014/main" id="{1811F1FE-2D98-AE1B-C3D3-7C0A59057EDC}"/>
              </a:ext>
            </a:extLst>
          </p:cNvPr>
          <p:cNvSpPr txBox="1">
            <a:spLocks noGrp="1"/>
          </p:cNvSpPr>
          <p:nvPr>
            <p:ph type="body" idx="1"/>
          </p:nvPr>
        </p:nvSpPr>
        <p:spPr>
          <a:xfrm>
            <a:off x="765628" y="1286420"/>
            <a:ext cx="7612743" cy="2570659"/>
          </a:xfrm>
          <a:prstGeom prst="rect">
            <a:avLst/>
          </a:prstGeom>
        </p:spPr>
        <p:txBody>
          <a:bodyPr spcFirstLastPara="1" wrap="square" lIns="91425" tIns="91425" rIns="91425" bIns="91425" anchor="t" anchorCtr="0">
            <a:noAutofit/>
          </a:bodyPr>
          <a:lstStyle/>
          <a:p>
            <a:pPr marL="0" lvl="0" indent="0" algn="just">
              <a:buClr>
                <a:schemeClr val="dk1"/>
              </a:buClr>
              <a:buSzPts val="1100"/>
              <a:buNone/>
            </a:pPr>
            <a:r>
              <a:rPr lang="es-ES" sz="1400" dirty="0">
                <a:solidFill>
                  <a:schemeClr val="dk1"/>
                </a:solidFill>
              </a:rPr>
              <a:t>API es un acrónimo de Interfaz de Programación de Aplicaciones (</a:t>
            </a:r>
            <a:r>
              <a:rPr lang="es-ES" sz="1400" dirty="0" err="1">
                <a:solidFill>
                  <a:schemeClr val="dk1"/>
                </a:solidFill>
              </a:rPr>
              <a:t>Application</a:t>
            </a:r>
            <a:r>
              <a:rPr lang="es-ES" sz="1400" dirty="0">
                <a:solidFill>
                  <a:schemeClr val="dk1"/>
                </a:solidFill>
              </a:rPr>
              <a:t> </a:t>
            </a:r>
            <a:r>
              <a:rPr lang="es-ES" sz="1400" dirty="0" err="1">
                <a:solidFill>
                  <a:schemeClr val="dk1"/>
                </a:solidFill>
              </a:rPr>
              <a:t>Programming</a:t>
            </a:r>
            <a:r>
              <a:rPr lang="es-ES" sz="1400" dirty="0">
                <a:solidFill>
                  <a:schemeClr val="dk1"/>
                </a:solidFill>
              </a:rPr>
              <a:t> Interface). Se define como un sistema de herramientas y recursos en un sistema que permiten a los desarrolladores crear aplicaciones de software.</a:t>
            </a:r>
            <a:br>
              <a:rPr lang="es-ES" sz="1400" dirty="0">
                <a:solidFill>
                  <a:schemeClr val="dk1"/>
                </a:solidFill>
              </a:rPr>
            </a:br>
            <a:br>
              <a:rPr lang="es-ES" sz="1400" dirty="0">
                <a:solidFill>
                  <a:schemeClr val="dk1"/>
                </a:solidFill>
              </a:rPr>
            </a:br>
            <a:r>
              <a:rPr lang="es-ES" sz="1400" dirty="0">
                <a:solidFill>
                  <a:schemeClr val="dk1"/>
                </a:solidFill>
              </a:rPr>
              <a:t>Las API agregan datos y completan procesos en sistemas completamente dispares, lo que les permite interactuar entre sí. En términos sencillos, piense en ellos como un camarero en un restaurante.</a:t>
            </a:r>
            <a:endParaRPr lang="en-US" sz="1400" dirty="0">
              <a:solidFill>
                <a:schemeClr val="dk1"/>
              </a:solidFill>
            </a:endParaRPr>
          </a:p>
          <a:p>
            <a:pPr marL="0" lvl="0" indent="0" algn="just">
              <a:buClr>
                <a:schemeClr val="dk1"/>
              </a:buClr>
              <a:buSzPts val="1100"/>
              <a:buNone/>
            </a:pPr>
            <a:endParaRPr lang="es-ES" sz="1400" dirty="0">
              <a:solidFill>
                <a:schemeClr val="dk1"/>
              </a:solidFill>
            </a:endParaRPr>
          </a:p>
        </p:txBody>
      </p:sp>
    </p:spTree>
    <p:extLst>
      <p:ext uri="{BB962C8B-B14F-4D97-AF65-F5344CB8AC3E}">
        <p14:creationId xmlns:p14="http://schemas.microsoft.com/office/powerpoint/2010/main" val="3766228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API</a:t>
            </a:r>
            <a:endParaRPr dirty="0"/>
          </a:p>
        </p:txBody>
      </p:sp>
      <p:pic>
        <p:nvPicPr>
          <p:cNvPr id="1026" name="Picture 2">
            <a:extLst>
              <a:ext uri="{FF2B5EF4-FFF2-40B4-BE49-F238E27FC236}">
                <a16:creationId xmlns:a16="http://schemas.microsoft.com/office/drawing/2014/main" id="{9CA2BCB7-E6B9-39FC-DCD5-894FC93DC0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1041" y="1161277"/>
            <a:ext cx="7321867" cy="359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282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API</a:t>
            </a:r>
            <a:endParaRPr dirty="0"/>
          </a:p>
        </p:txBody>
      </p:sp>
      <p:sp>
        <p:nvSpPr>
          <p:cNvPr id="192" name="Google Shape;192;p31"/>
          <p:cNvSpPr txBox="1">
            <a:spLocks noGrp="1"/>
          </p:cNvSpPr>
          <p:nvPr>
            <p:ph type="body" idx="1"/>
          </p:nvPr>
        </p:nvSpPr>
        <p:spPr>
          <a:xfrm>
            <a:off x="2461159" y="1094198"/>
            <a:ext cx="4221632" cy="821671"/>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sz="1400" dirty="0">
                <a:solidFill>
                  <a:schemeClr val="dk1"/>
                </a:solidFill>
              </a:rPr>
              <a:t>Subrutinas, funciones o procedimientos que ofrece una biblioteca utilizados por otro software como una capa de abstracción</a:t>
            </a:r>
          </a:p>
        </p:txBody>
      </p:sp>
      <p:pic>
        <p:nvPicPr>
          <p:cNvPr id="1026" name="Picture 2" descr="What is an API (Application Programming Interface)? - GeeksforGeeks">
            <a:extLst>
              <a:ext uri="{FF2B5EF4-FFF2-40B4-BE49-F238E27FC236}">
                <a16:creationId xmlns:a16="http://schemas.microsoft.com/office/drawing/2014/main" id="{A6AFC395-544A-A5F3-9ACD-77AAE6A332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6571" y="2053319"/>
            <a:ext cx="5950858" cy="2796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60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API</a:t>
            </a:r>
            <a:endParaRPr dirty="0"/>
          </a:p>
        </p:txBody>
      </p:sp>
      <p:pic>
        <p:nvPicPr>
          <p:cNvPr id="5" name="Imagen 4">
            <a:extLst>
              <a:ext uri="{FF2B5EF4-FFF2-40B4-BE49-F238E27FC236}">
                <a16:creationId xmlns:a16="http://schemas.microsoft.com/office/drawing/2014/main" id="{126BEA0E-1B6F-4F10-BB97-B1461EC49347}"/>
              </a:ext>
            </a:extLst>
          </p:cNvPr>
          <p:cNvPicPr>
            <a:picLocks noChangeAspect="1"/>
          </p:cNvPicPr>
          <p:nvPr/>
        </p:nvPicPr>
        <p:blipFill rotWithShape="1">
          <a:blip r:embed="rId3"/>
          <a:srcRect r="1527"/>
          <a:stretch/>
        </p:blipFill>
        <p:spPr>
          <a:xfrm>
            <a:off x="1974157" y="1130527"/>
            <a:ext cx="5195686" cy="3294275"/>
          </a:xfrm>
          <a:prstGeom prst="rect">
            <a:avLst/>
          </a:prstGeom>
        </p:spPr>
      </p:pic>
    </p:spTree>
    <p:extLst>
      <p:ext uri="{BB962C8B-B14F-4D97-AF65-F5344CB8AC3E}">
        <p14:creationId xmlns:p14="http://schemas.microsoft.com/office/powerpoint/2010/main" val="2396993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API</a:t>
            </a:r>
            <a:endParaRPr dirty="0"/>
          </a:p>
        </p:txBody>
      </p:sp>
      <p:pic>
        <p:nvPicPr>
          <p:cNvPr id="2050" name="Picture 2">
            <a:extLst>
              <a:ext uri="{FF2B5EF4-FFF2-40B4-BE49-F238E27FC236}">
                <a16:creationId xmlns:a16="http://schemas.microsoft.com/office/drawing/2014/main" id="{2C71B14E-8F2F-00C9-2F82-8EF494DDCE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813" y="1009650"/>
            <a:ext cx="8334375"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645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¿Cómo funciona?</a:t>
            </a:r>
            <a:endParaRPr dirty="0"/>
          </a:p>
        </p:txBody>
      </p:sp>
      <p:pic>
        <p:nvPicPr>
          <p:cNvPr id="3" name="Imagen 2">
            <a:extLst>
              <a:ext uri="{FF2B5EF4-FFF2-40B4-BE49-F238E27FC236}">
                <a16:creationId xmlns:a16="http://schemas.microsoft.com/office/drawing/2014/main" id="{75D80819-B8C7-3440-6CD4-B4BE97BC3CFA}"/>
              </a:ext>
            </a:extLst>
          </p:cNvPr>
          <p:cNvPicPr>
            <a:picLocks noChangeAspect="1"/>
          </p:cNvPicPr>
          <p:nvPr/>
        </p:nvPicPr>
        <p:blipFill>
          <a:blip r:embed="rId3"/>
          <a:stretch>
            <a:fillRect/>
          </a:stretch>
        </p:blipFill>
        <p:spPr>
          <a:xfrm>
            <a:off x="1312288" y="1399721"/>
            <a:ext cx="6519373" cy="2707821"/>
          </a:xfrm>
          <a:prstGeom prst="rect">
            <a:avLst/>
          </a:prstGeom>
        </p:spPr>
      </p:pic>
    </p:spTree>
    <p:extLst>
      <p:ext uri="{BB962C8B-B14F-4D97-AF65-F5344CB8AC3E}">
        <p14:creationId xmlns:p14="http://schemas.microsoft.com/office/powerpoint/2010/main" val="2162635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p:spPr>
        <p:txBody>
          <a:bodyPr/>
          <a:lstStyle/>
          <a:p>
            <a:r>
              <a:rPr lang="en-US" dirty="0"/>
              <a:t>A</a:t>
            </a:r>
            <a:r>
              <a:rPr lang="en-US" sz="2700" dirty="0"/>
              <a:t>pplication</a:t>
            </a:r>
            <a:r>
              <a:rPr lang="en-US" dirty="0"/>
              <a:t> p</a:t>
            </a:r>
            <a:r>
              <a:rPr lang="en-US" sz="2700" dirty="0"/>
              <a:t>rogramming</a:t>
            </a:r>
            <a:r>
              <a:rPr lang="en-US" dirty="0"/>
              <a:t> i</a:t>
            </a:r>
            <a:r>
              <a:rPr lang="en-US" sz="2700" dirty="0"/>
              <a:t>nterface</a:t>
            </a:r>
            <a:endParaRPr lang="en-US" dirty="0"/>
          </a:p>
        </p:txBody>
      </p:sp>
      <p:sp>
        <p:nvSpPr>
          <p:cNvPr id="3" name="Content Placeholder 2"/>
          <p:cNvSpPr>
            <a:spLocks noGrp="1"/>
          </p:cNvSpPr>
          <p:nvPr>
            <p:ph idx="1"/>
          </p:nvPr>
        </p:nvSpPr>
        <p:spPr>
          <a:xfrm>
            <a:off x="628649" y="3198808"/>
            <a:ext cx="7886701" cy="1067472"/>
          </a:xfrm>
        </p:spPr>
        <p:txBody>
          <a:bodyPr wrap="square">
            <a:spAutoFit/>
          </a:bodyPr>
          <a:lstStyle/>
          <a:p>
            <a:pPr marL="0" indent="0">
              <a:buNone/>
            </a:pPr>
            <a:r>
              <a:rPr lang="es-ES" dirty="0"/>
              <a:t>Una API es una interfaz para la comunicación entre máquinas y máquinas.
Una API que hace uso de HTTP se denomina API web.</a:t>
            </a:r>
            <a:endParaRPr lang="en-US" dirty="0"/>
          </a:p>
        </p:txBody>
      </p:sp>
      <p:sp>
        <p:nvSpPr>
          <p:cNvPr id="23" name="Content Placeholder 2">
            <a:extLst>
              <a:ext uri="{FF2B5EF4-FFF2-40B4-BE49-F238E27FC236}">
                <a16:creationId xmlns:a16="http://schemas.microsoft.com/office/drawing/2014/main" id="{9A7E9E1C-F18E-4981-803C-C9D0A7DBC71E}"/>
              </a:ext>
            </a:extLst>
          </p:cNvPr>
          <p:cNvSpPr txBox="1">
            <a:spLocks/>
          </p:cNvSpPr>
          <p:nvPr/>
        </p:nvSpPr>
        <p:spPr>
          <a:xfrm>
            <a:off x="628648" y="1268016"/>
            <a:ext cx="8206070" cy="567848"/>
          </a:xfrm>
          <a:prstGeom prst="rect">
            <a:avLst/>
          </a:prstGeom>
        </p:spPr>
        <p:txBody>
          <a:bodyPr vert="horz" wrap="square" lIns="68580" tIns="34290" rIns="68580" bIns="3429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a:spcBef>
                <a:spcPts val="750"/>
              </a:spcBef>
              <a:buClrTx/>
              <a:buNone/>
            </a:pPr>
            <a:r>
              <a:rPr lang="es-ES" sz="1800" dirty="0">
                <a:solidFill>
                  <a:srgbClr val="FFFFFF"/>
                </a:solidFill>
              </a:rPr>
              <a:t>Una interfaz gráfica de usuario es una interfaz para la comunicación hombre-máquina.</a:t>
            </a:r>
            <a:endParaRPr lang="en-US" sz="1800" dirty="0">
              <a:solidFill>
                <a:srgbClr val="FFFFFF"/>
              </a:solidFill>
            </a:endParaRPr>
          </a:p>
        </p:txBody>
      </p:sp>
      <p:sp>
        <p:nvSpPr>
          <p:cNvPr id="24" name="Freeform: Shape 23">
            <a:extLst>
              <a:ext uri="{FF2B5EF4-FFF2-40B4-BE49-F238E27FC236}">
                <a16:creationId xmlns:a16="http://schemas.microsoft.com/office/drawing/2014/main" id="{8DA2AF4E-BA26-4B2E-AB48-027F46DEE489}"/>
              </a:ext>
            </a:extLst>
          </p:cNvPr>
          <p:cNvSpPr/>
          <p:nvPr/>
        </p:nvSpPr>
        <p:spPr>
          <a:xfrm flipH="1">
            <a:off x="1682459" y="1807635"/>
            <a:ext cx="541605" cy="1018580"/>
          </a:xfrm>
          <a:custGeom>
            <a:avLst/>
            <a:gdLst>
              <a:gd name="connsiteX0" fmla="*/ 594172 w 713581"/>
              <a:gd name="connsiteY0" fmla="*/ 271909 h 1358106"/>
              <a:gd name="connsiteX1" fmla="*/ 133796 w 713581"/>
              <a:gd name="connsiteY1" fmla="*/ 271909 h 1358106"/>
              <a:gd name="connsiteX2" fmla="*/ 133796 w 713581"/>
              <a:gd name="connsiteY2" fmla="*/ 133796 h 1358106"/>
              <a:gd name="connsiteX3" fmla="*/ 594172 w 713581"/>
              <a:gd name="connsiteY3" fmla="*/ 133796 h 1358106"/>
              <a:gd name="connsiteX4" fmla="*/ 594172 w 713581"/>
              <a:gd name="connsiteY4" fmla="*/ 271909 h 1358106"/>
              <a:gd name="connsiteX5" fmla="*/ 594172 w 713581"/>
              <a:gd name="connsiteY5" fmla="*/ 502097 h 1358106"/>
              <a:gd name="connsiteX6" fmla="*/ 133796 w 713581"/>
              <a:gd name="connsiteY6" fmla="*/ 502097 h 1358106"/>
              <a:gd name="connsiteX7" fmla="*/ 133796 w 713581"/>
              <a:gd name="connsiteY7" fmla="*/ 363984 h 1358106"/>
              <a:gd name="connsiteX8" fmla="*/ 594172 w 713581"/>
              <a:gd name="connsiteY8" fmla="*/ 363984 h 1358106"/>
              <a:gd name="connsiteX9" fmla="*/ 594172 w 713581"/>
              <a:gd name="connsiteY9" fmla="*/ 502097 h 1358106"/>
              <a:gd name="connsiteX10" fmla="*/ 363984 w 713581"/>
              <a:gd name="connsiteY10" fmla="*/ 1192659 h 1358106"/>
              <a:gd name="connsiteX11" fmla="*/ 294928 w 713581"/>
              <a:gd name="connsiteY11" fmla="*/ 1123603 h 1358106"/>
              <a:gd name="connsiteX12" fmla="*/ 363984 w 713581"/>
              <a:gd name="connsiteY12" fmla="*/ 1054547 h 1358106"/>
              <a:gd name="connsiteX13" fmla="*/ 433040 w 713581"/>
              <a:gd name="connsiteY13" fmla="*/ 1123603 h 1358106"/>
              <a:gd name="connsiteX14" fmla="*/ 363984 w 713581"/>
              <a:gd name="connsiteY14" fmla="*/ 1192659 h 1358106"/>
              <a:gd name="connsiteX15" fmla="*/ 594172 w 713581"/>
              <a:gd name="connsiteY15" fmla="*/ 41721 h 1358106"/>
              <a:gd name="connsiteX16" fmla="*/ 133796 w 713581"/>
              <a:gd name="connsiteY16" fmla="*/ 41721 h 1358106"/>
              <a:gd name="connsiteX17" fmla="*/ 41721 w 713581"/>
              <a:gd name="connsiteY17" fmla="*/ 133796 h 1358106"/>
              <a:gd name="connsiteX18" fmla="*/ 41721 w 713581"/>
              <a:gd name="connsiteY18" fmla="*/ 1238697 h 1358106"/>
              <a:gd name="connsiteX19" fmla="*/ 133796 w 713581"/>
              <a:gd name="connsiteY19" fmla="*/ 1330772 h 1358106"/>
              <a:gd name="connsiteX20" fmla="*/ 594172 w 713581"/>
              <a:gd name="connsiteY20" fmla="*/ 1330772 h 1358106"/>
              <a:gd name="connsiteX21" fmla="*/ 686247 w 713581"/>
              <a:gd name="connsiteY21" fmla="*/ 1238697 h 1358106"/>
              <a:gd name="connsiteX22" fmla="*/ 686247 w 713581"/>
              <a:gd name="connsiteY22" fmla="*/ 133796 h 1358106"/>
              <a:gd name="connsiteX23" fmla="*/ 594172 w 713581"/>
              <a:gd name="connsiteY23" fmla="*/ 41721 h 1358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13581" h="1358106">
                <a:moveTo>
                  <a:pt x="594172" y="271909"/>
                </a:moveTo>
                <a:lnTo>
                  <a:pt x="133796" y="271909"/>
                </a:lnTo>
                <a:lnTo>
                  <a:pt x="133796" y="133796"/>
                </a:lnTo>
                <a:lnTo>
                  <a:pt x="594172" y="133796"/>
                </a:lnTo>
                <a:lnTo>
                  <a:pt x="594172" y="271909"/>
                </a:lnTo>
                <a:close/>
                <a:moveTo>
                  <a:pt x="594172" y="502097"/>
                </a:moveTo>
                <a:lnTo>
                  <a:pt x="133796" y="502097"/>
                </a:lnTo>
                <a:lnTo>
                  <a:pt x="133796" y="363984"/>
                </a:lnTo>
                <a:lnTo>
                  <a:pt x="594172" y="363984"/>
                </a:lnTo>
                <a:lnTo>
                  <a:pt x="594172" y="502097"/>
                </a:lnTo>
                <a:close/>
                <a:moveTo>
                  <a:pt x="363984" y="1192659"/>
                </a:moveTo>
                <a:cubicBezTo>
                  <a:pt x="324852" y="1192659"/>
                  <a:pt x="294928" y="1162735"/>
                  <a:pt x="294928" y="1123603"/>
                </a:cubicBezTo>
                <a:cubicBezTo>
                  <a:pt x="294928" y="1084471"/>
                  <a:pt x="324852" y="1054547"/>
                  <a:pt x="363984" y="1054547"/>
                </a:cubicBezTo>
                <a:cubicBezTo>
                  <a:pt x="403116" y="1054547"/>
                  <a:pt x="433040" y="1084471"/>
                  <a:pt x="433040" y="1123603"/>
                </a:cubicBezTo>
                <a:cubicBezTo>
                  <a:pt x="433040" y="1162735"/>
                  <a:pt x="403116" y="1192659"/>
                  <a:pt x="363984" y="1192659"/>
                </a:cubicBezTo>
                <a:close/>
                <a:moveTo>
                  <a:pt x="594172" y="41721"/>
                </a:moveTo>
                <a:lnTo>
                  <a:pt x="133796" y="41721"/>
                </a:lnTo>
                <a:cubicBezTo>
                  <a:pt x="83155" y="41721"/>
                  <a:pt x="41721" y="83155"/>
                  <a:pt x="41721" y="133796"/>
                </a:cubicBezTo>
                <a:lnTo>
                  <a:pt x="41721" y="1238697"/>
                </a:lnTo>
                <a:cubicBezTo>
                  <a:pt x="41721" y="1289338"/>
                  <a:pt x="83155" y="1330772"/>
                  <a:pt x="133796" y="1330772"/>
                </a:cubicBezTo>
                <a:lnTo>
                  <a:pt x="594172" y="1330772"/>
                </a:lnTo>
                <a:cubicBezTo>
                  <a:pt x="644813" y="1330772"/>
                  <a:pt x="686247" y="1289338"/>
                  <a:pt x="686247" y="1238697"/>
                </a:cubicBezTo>
                <a:lnTo>
                  <a:pt x="686247" y="133796"/>
                </a:lnTo>
                <a:cubicBezTo>
                  <a:pt x="686247" y="83155"/>
                  <a:pt x="644813" y="41721"/>
                  <a:pt x="594172" y="41721"/>
                </a:cubicBezTo>
                <a:close/>
              </a:path>
            </a:pathLst>
          </a:custGeom>
          <a:ln/>
        </p:spPr>
        <p:style>
          <a:lnRef idx="3">
            <a:schemeClr val="lt1"/>
          </a:lnRef>
          <a:fillRef idx="1">
            <a:schemeClr val="accent4"/>
          </a:fillRef>
          <a:effectRef idx="1">
            <a:schemeClr val="accent4"/>
          </a:effectRef>
          <a:fontRef idx="minor">
            <a:schemeClr val="lt1"/>
          </a:fontRef>
        </p:style>
        <p:txBody>
          <a:bodyPr rtlCol="0" anchor="ctr"/>
          <a:lstStyle/>
          <a:p>
            <a:pPr defTabSz="685800">
              <a:buClrTx/>
            </a:pPr>
            <a:endParaRPr lang="en-US" sz="1350" kern="1200">
              <a:solidFill>
                <a:srgbClr val="FFFFFF"/>
              </a:solidFill>
              <a:latin typeface="Georgia"/>
            </a:endParaRPr>
          </a:p>
        </p:txBody>
      </p:sp>
      <p:sp>
        <p:nvSpPr>
          <p:cNvPr id="26" name="TextBox 25">
            <a:extLst>
              <a:ext uri="{FF2B5EF4-FFF2-40B4-BE49-F238E27FC236}">
                <a16:creationId xmlns:a16="http://schemas.microsoft.com/office/drawing/2014/main" id="{D99A1DD2-F962-4CEC-8850-FCCD8B1BDE6F}"/>
              </a:ext>
            </a:extLst>
          </p:cNvPr>
          <p:cNvSpPr txBox="1"/>
          <p:nvPr/>
        </p:nvSpPr>
        <p:spPr>
          <a:xfrm>
            <a:off x="1507881" y="2818158"/>
            <a:ext cx="890760" cy="300082"/>
          </a:xfrm>
          <a:prstGeom prst="rect">
            <a:avLst/>
          </a:prstGeom>
          <a:noFill/>
        </p:spPr>
        <p:txBody>
          <a:bodyPr wrap="square" rtlCol="0">
            <a:spAutoFit/>
          </a:bodyPr>
          <a:lstStyle/>
          <a:p>
            <a:pPr algn="ctr" defTabSz="685800">
              <a:buClrTx/>
            </a:pPr>
            <a:r>
              <a:rPr lang="en-US" sz="1350" kern="1200" dirty="0">
                <a:solidFill>
                  <a:srgbClr val="FFFFFF"/>
                </a:solidFill>
                <a:latin typeface="Georgia"/>
                <a:ea typeface="+mn-ea"/>
                <a:cs typeface="+mn-cs"/>
              </a:rPr>
              <a:t>Server</a:t>
            </a:r>
          </a:p>
        </p:txBody>
      </p:sp>
      <p:grpSp>
        <p:nvGrpSpPr>
          <p:cNvPr id="28" name="Group 27">
            <a:extLst>
              <a:ext uri="{FF2B5EF4-FFF2-40B4-BE49-F238E27FC236}">
                <a16:creationId xmlns:a16="http://schemas.microsoft.com/office/drawing/2014/main" id="{4AB1B226-1557-43FD-94F8-DE4DB2B9C0D4}"/>
              </a:ext>
            </a:extLst>
          </p:cNvPr>
          <p:cNvGrpSpPr/>
          <p:nvPr/>
        </p:nvGrpSpPr>
        <p:grpSpPr>
          <a:xfrm>
            <a:off x="3648899" y="1937464"/>
            <a:ext cx="685800" cy="685800"/>
            <a:chOff x="8138491" y="1803437"/>
            <a:chExt cx="914400" cy="914400"/>
          </a:xfrm>
        </p:grpSpPr>
        <p:sp>
          <p:nvSpPr>
            <p:cNvPr id="29" name="Rectangle 28">
              <a:extLst>
                <a:ext uri="{FF2B5EF4-FFF2-40B4-BE49-F238E27FC236}">
                  <a16:creationId xmlns:a16="http://schemas.microsoft.com/office/drawing/2014/main" id="{0EDBA908-6F94-48D2-8E27-11BF8FFA1D32}"/>
                </a:ext>
              </a:extLst>
            </p:cNvPr>
            <p:cNvSpPr/>
            <p:nvPr/>
          </p:nvSpPr>
          <p:spPr>
            <a:xfrm>
              <a:off x="8403534" y="1948105"/>
              <a:ext cx="384313" cy="6938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pPr>
              <a:endParaRPr lang="en-US" sz="1350" kern="1200">
                <a:solidFill>
                  <a:srgbClr val="FFFFFF"/>
                </a:solidFill>
                <a:latin typeface="Georgia"/>
              </a:endParaRPr>
            </a:p>
          </p:txBody>
        </p:sp>
        <p:pic>
          <p:nvPicPr>
            <p:cNvPr id="30" name="Graphic 29" descr="Smart Phone">
              <a:extLst>
                <a:ext uri="{FF2B5EF4-FFF2-40B4-BE49-F238E27FC236}">
                  <a16:creationId xmlns:a16="http://schemas.microsoft.com/office/drawing/2014/main" id="{30BCD67F-5183-4CF4-A71E-BB001840463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38491" y="1803437"/>
              <a:ext cx="914400" cy="914400"/>
            </a:xfrm>
            <a:prstGeom prst="rect">
              <a:avLst/>
            </a:prstGeom>
          </p:spPr>
        </p:pic>
      </p:grpSp>
      <p:sp>
        <p:nvSpPr>
          <p:cNvPr id="31" name="TextBox 30">
            <a:extLst>
              <a:ext uri="{FF2B5EF4-FFF2-40B4-BE49-F238E27FC236}">
                <a16:creationId xmlns:a16="http://schemas.microsoft.com/office/drawing/2014/main" id="{FE8E26A3-E771-4634-B203-FB6973DF169B}"/>
              </a:ext>
            </a:extLst>
          </p:cNvPr>
          <p:cNvSpPr txBox="1"/>
          <p:nvPr/>
        </p:nvSpPr>
        <p:spPr>
          <a:xfrm>
            <a:off x="3607902" y="2623264"/>
            <a:ext cx="746636" cy="300082"/>
          </a:xfrm>
          <a:prstGeom prst="rect">
            <a:avLst/>
          </a:prstGeom>
          <a:noFill/>
        </p:spPr>
        <p:txBody>
          <a:bodyPr wrap="square" rtlCol="0">
            <a:spAutoFit/>
          </a:bodyPr>
          <a:lstStyle/>
          <a:p>
            <a:pPr algn="ctr" defTabSz="685800">
              <a:buClrTx/>
            </a:pPr>
            <a:r>
              <a:rPr lang="en-US" sz="1350" kern="1200" dirty="0">
                <a:solidFill>
                  <a:srgbClr val="FFFFFF"/>
                </a:solidFill>
                <a:latin typeface="Georgia"/>
                <a:ea typeface="+mn-ea"/>
                <a:cs typeface="+mn-cs"/>
              </a:rPr>
              <a:t>Client</a:t>
            </a:r>
          </a:p>
        </p:txBody>
      </p:sp>
      <p:sp>
        <p:nvSpPr>
          <p:cNvPr id="32" name="Arrow: Left-Right 31">
            <a:extLst>
              <a:ext uri="{FF2B5EF4-FFF2-40B4-BE49-F238E27FC236}">
                <a16:creationId xmlns:a16="http://schemas.microsoft.com/office/drawing/2014/main" id="{69EFC99C-284A-492E-9053-B0262C4444CE}"/>
              </a:ext>
            </a:extLst>
          </p:cNvPr>
          <p:cNvSpPr/>
          <p:nvPr/>
        </p:nvSpPr>
        <p:spPr>
          <a:xfrm>
            <a:off x="2410052" y="2145330"/>
            <a:ext cx="1133060" cy="327991"/>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defTabSz="685800">
              <a:buClrTx/>
            </a:pPr>
            <a:endParaRPr lang="en-US" sz="1350" kern="1200">
              <a:solidFill>
                <a:srgbClr val="FFFFFF"/>
              </a:solidFill>
              <a:latin typeface="Georgia"/>
            </a:endParaRPr>
          </a:p>
        </p:txBody>
      </p:sp>
      <p:sp>
        <p:nvSpPr>
          <p:cNvPr id="33" name="TextBox 32">
            <a:extLst>
              <a:ext uri="{FF2B5EF4-FFF2-40B4-BE49-F238E27FC236}">
                <a16:creationId xmlns:a16="http://schemas.microsoft.com/office/drawing/2014/main" id="{020DEC76-C1A4-4B27-B28E-14F0372C624D}"/>
              </a:ext>
            </a:extLst>
          </p:cNvPr>
          <p:cNvSpPr txBox="1"/>
          <p:nvPr/>
        </p:nvSpPr>
        <p:spPr>
          <a:xfrm>
            <a:off x="2518555" y="1861433"/>
            <a:ext cx="916052" cy="300082"/>
          </a:xfrm>
          <a:prstGeom prst="rect">
            <a:avLst/>
          </a:prstGeom>
          <a:noFill/>
        </p:spPr>
        <p:txBody>
          <a:bodyPr wrap="square" rtlCol="0">
            <a:spAutoFit/>
          </a:bodyPr>
          <a:lstStyle/>
          <a:p>
            <a:pPr algn="ctr" defTabSz="685800">
              <a:buClrTx/>
            </a:pPr>
            <a:r>
              <a:rPr lang="en-US" sz="1350" kern="1200" dirty="0">
                <a:latin typeface="Georgia"/>
                <a:ea typeface="+mn-ea"/>
                <a:cs typeface="+mn-cs"/>
              </a:rPr>
              <a:t>API</a:t>
            </a:r>
          </a:p>
        </p:txBody>
      </p:sp>
      <p:sp>
        <p:nvSpPr>
          <p:cNvPr id="34" name="Arrow: Left-Right 33">
            <a:extLst>
              <a:ext uri="{FF2B5EF4-FFF2-40B4-BE49-F238E27FC236}">
                <a16:creationId xmlns:a16="http://schemas.microsoft.com/office/drawing/2014/main" id="{093A42BE-66B4-4B6A-8D6D-578C82205173}"/>
              </a:ext>
            </a:extLst>
          </p:cNvPr>
          <p:cNvSpPr/>
          <p:nvPr/>
        </p:nvSpPr>
        <p:spPr>
          <a:xfrm>
            <a:off x="4526551" y="2145330"/>
            <a:ext cx="1133060" cy="327991"/>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defTabSz="685800">
              <a:buClrTx/>
            </a:pPr>
            <a:endParaRPr lang="en-US" sz="1350" kern="1200">
              <a:solidFill>
                <a:srgbClr val="FFFFFF"/>
              </a:solidFill>
              <a:latin typeface="Georgia"/>
            </a:endParaRPr>
          </a:p>
        </p:txBody>
      </p:sp>
      <p:sp>
        <p:nvSpPr>
          <p:cNvPr id="35" name="TextBox 34">
            <a:extLst>
              <a:ext uri="{FF2B5EF4-FFF2-40B4-BE49-F238E27FC236}">
                <a16:creationId xmlns:a16="http://schemas.microsoft.com/office/drawing/2014/main" id="{92B40BC1-0CBA-4BD6-BE28-0FCF771DE49F}"/>
              </a:ext>
            </a:extLst>
          </p:cNvPr>
          <p:cNvSpPr txBox="1"/>
          <p:nvPr/>
        </p:nvSpPr>
        <p:spPr>
          <a:xfrm>
            <a:off x="4635055" y="1861433"/>
            <a:ext cx="916052" cy="300082"/>
          </a:xfrm>
          <a:prstGeom prst="rect">
            <a:avLst/>
          </a:prstGeom>
          <a:noFill/>
        </p:spPr>
        <p:txBody>
          <a:bodyPr wrap="square" rtlCol="0">
            <a:spAutoFit/>
          </a:bodyPr>
          <a:lstStyle/>
          <a:p>
            <a:pPr algn="ctr" defTabSz="685800">
              <a:buClrTx/>
            </a:pPr>
            <a:r>
              <a:rPr lang="en-US" sz="1350" kern="1200" dirty="0">
                <a:latin typeface="Georgia"/>
                <a:ea typeface="+mn-ea"/>
                <a:cs typeface="+mn-cs"/>
              </a:rPr>
              <a:t>GUI</a:t>
            </a:r>
          </a:p>
        </p:txBody>
      </p:sp>
      <p:pic>
        <p:nvPicPr>
          <p:cNvPr id="5" name="Graphic 4" descr="Woman">
            <a:extLst>
              <a:ext uri="{FF2B5EF4-FFF2-40B4-BE49-F238E27FC236}">
                <a16:creationId xmlns:a16="http://schemas.microsoft.com/office/drawing/2014/main" id="{B021DEB5-052C-4BE8-BC5A-FE1FA3A9F44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79372" y="1999933"/>
            <a:ext cx="685800" cy="685800"/>
          </a:xfrm>
          <a:prstGeom prst="rect">
            <a:avLst/>
          </a:prstGeom>
        </p:spPr>
      </p:pic>
      <p:sp>
        <p:nvSpPr>
          <p:cNvPr id="36" name="TextBox 35">
            <a:extLst>
              <a:ext uri="{FF2B5EF4-FFF2-40B4-BE49-F238E27FC236}">
                <a16:creationId xmlns:a16="http://schemas.microsoft.com/office/drawing/2014/main" id="{8E6349D3-8960-4004-8EFA-D0DF939DF58B}"/>
              </a:ext>
            </a:extLst>
          </p:cNvPr>
          <p:cNvSpPr txBox="1"/>
          <p:nvPr/>
        </p:nvSpPr>
        <p:spPr>
          <a:xfrm>
            <a:off x="5740899" y="2663308"/>
            <a:ext cx="746636" cy="300082"/>
          </a:xfrm>
          <a:prstGeom prst="rect">
            <a:avLst/>
          </a:prstGeom>
          <a:noFill/>
        </p:spPr>
        <p:txBody>
          <a:bodyPr wrap="square" rtlCol="0">
            <a:spAutoFit/>
          </a:bodyPr>
          <a:lstStyle/>
          <a:p>
            <a:pPr algn="ctr" defTabSz="685800">
              <a:buClrTx/>
            </a:pPr>
            <a:r>
              <a:rPr lang="en-US" sz="1350" kern="1200" dirty="0">
                <a:solidFill>
                  <a:srgbClr val="FFFFFF"/>
                </a:solidFill>
                <a:latin typeface="Georgia"/>
                <a:ea typeface="+mn-ea"/>
                <a:cs typeface="+mn-cs"/>
              </a:rPr>
              <a:t>User</a:t>
            </a:r>
          </a:p>
        </p:txBody>
      </p:sp>
      <p:sp>
        <p:nvSpPr>
          <p:cNvPr id="4" name="Rectangle 3">
            <a:extLst>
              <a:ext uri="{FF2B5EF4-FFF2-40B4-BE49-F238E27FC236}">
                <a16:creationId xmlns:a16="http://schemas.microsoft.com/office/drawing/2014/main" id="{1596EFC0-02B4-4740-2738-900F904A483C}"/>
              </a:ext>
            </a:extLst>
          </p:cNvPr>
          <p:cNvSpPr/>
          <p:nvPr/>
        </p:nvSpPr>
        <p:spPr>
          <a:xfrm>
            <a:off x="7186047" y="4602997"/>
            <a:ext cx="1823634" cy="540503"/>
          </a:xfrm>
          <a:prstGeom prst="rect">
            <a:avLst/>
          </a:prstGeom>
          <a:solidFill>
            <a:srgbClr val="78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756704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animBg="1"/>
      <p:bldP spid="26" grpId="0"/>
      <p:bldP spid="31" grpId="0"/>
      <p:bldP spid="32" grpId="0" animBg="1"/>
      <p:bldP spid="33" grpId="0"/>
      <p:bldP spid="34" grpId="0" animBg="1"/>
      <p:bldP spid="35" grpId="0"/>
      <p:bldP spid="3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Ejemplos de APIs</a:t>
            </a:r>
            <a:endParaRPr dirty="0"/>
          </a:p>
        </p:txBody>
      </p:sp>
      <p:pic>
        <p:nvPicPr>
          <p:cNvPr id="4" name="Imagen 3">
            <a:extLst>
              <a:ext uri="{FF2B5EF4-FFF2-40B4-BE49-F238E27FC236}">
                <a16:creationId xmlns:a16="http://schemas.microsoft.com/office/drawing/2014/main" id="{FDF6A0F1-EC16-94E5-C959-7B7E5494D987}"/>
              </a:ext>
            </a:extLst>
          </p:cNvPr>
          <p:cNvPicPr>
            <a:picLocks noChangeAspect="1"/>
          </p:cNvPicPr>
          <p:nvPr/>
        </p:nvPicPr>
        <p:blipFill>
          <a:blip r:embed="rId3"/>
          <a:stretch>
            <a:fillRect/>
          </a:stretch>
        </p:blipFill>
        <p:spPr>
          <a:xfrm>
            <a:off x="1108075" y="1160236"/>
            <a:ext cx="5009696" cy="3686661"/>
          </a:xfrm>
          <a:prstGeom prst="rect">
            <a:avLst/>
          </a:prstGeom>
        </p:spPr>
      </p:pic>
      <p:pic>
        <p:nvPicPr>
          <p:cNvPr id="6" name="Imagen 5">
            <a:extLst>
              <a:ext uri="{FF2B5EF4-FFF2-40B4-BE49-F238E27FC236}">
                <a16:creationId xmlns:a16="http://schemas.microsoft.com/office/drawing/2014/main" id="{DB5DBCAE-082B-477F-188E-D9B928F0147A}"/>
              </a:ext>
            </a:extLst>
          </p:cNvPr>
          <p:cNvPicPr>
            <a:picLocks noChangeAspect="1"/>
          </p:cNvPicPr>
          <p:nvPr/>
        </p:nvPicPr>
        <p:blipFill>
          <a:blip r:embed="rId4"/>
          <a:stretch>
            <a:fillRect/>
          </a:stretch>
        </p:blipFill>
        <p:spPr>
          <a:xfrm>
            <a:off x="6470130" y="1160236"/>
            <a:ext cx="1868328" cy="3353253"/>
          </a:xfrm>
          <a:prstGeom prst="rect">
            <a:avLst/>
          </a:prstGeom>
        </p:spPr>
      </p:pic>
    </p:spTree>
    <p:extLst>
      <p:ext uri="{BB962C8B-B14F-4D97-AF65-F5344CB8AC3E}">
        <p14:creationId xmlns:p14="http://schemas.microsoft.com/office/powerpoint/2010/main" val="2766318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Tipos de API</a:t>
            </a:r>
            <a:endParaRPr dirty="0"/>
          </a:p>
        </p:txBody>
      </p:sp>
      <p:sp>
        <p:nvSpPr>
          <p:cNvPr id="192" name="Google Shape;192;p31"/>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0" indent="0" algn="just">
              <a:buClr>
                <a:schemeClr val="dk1"/>
              </a:buClr>
              <a:buSzPts val="1100"/>
              <a:buNone/>
            </a:pPr>
            <a:r>
              <a:rPr lang="es-ES" sz="1400" dirty="0">
                <a:solidFill>
                  <a:schemeClr val="dk1"/>
                </a:solidFill>
              </a:rPr>
              <a:t>Hay muchos tipos de API. </a:t>
            </a:r>
          </a:p>
          <a:p>
            <a:pPr marL="0" indent="0" algn="just">
              <a:buClr>
                <a:schemeClr val="dk1"/>
              </a:buClr>
              <a:buSzPts val="1100"/>
              <a:buNone/>
            </a:pPr>
            <a:endParaRPr lang="es-ES" sz="1400" dirty="0">
              <a:solidFill>
                <a:schemeClr val="dk1"/>
              </a:solidFill>
            </a:endParaRPr>
          </a:p>
          <a:p>
            <a:pPr marL="0" indent="0" algn="just">
              <a:buClr>
                <a:schemeClr val="dk1"/>
              </a:buClr>
              <a:buSzPts val="1100"/>
              <a:buNone/>
            </a:pPr>
            <a:r>
              <a:rPr lang="es-ES" sz="1400" dirty="0">
                <a:solidFill>
                  <a:schemeClr val="dk1"/>
                </a:solidFill>
              </a:rPr>
              <a:t>A continuación, se muestran varios de ellos:
</a:t>
            </a:r>
          </a:p>
          <a:p>
            <a:pPr marL="285750" indent="-285750" algn="just">
              <a:buClr>
                <a:schemeClr val="dk1"/>
              </a:buClr>
              <a:buSzPts val="1100"/>
            </a:pPr>
            <a:r>
              <a:rPr lang="es-ES" sz="1400" dirty="0">
                <a:solidFill>
                  <a:schemeClr val="dk1"/>
                </a:solidFill>
              </a:rPr>
              <a:t>Por caso de uso:</a:t>
            </a:r>
          </a:p>
          <a:p>
            <a:pPr marL="742950" lvl="1" indent="-285750" algn="just">
              <a:buClr>
                <a:schemeClr val="dk1"/>
              </a:buClr>
              <a:buSzPts val="1100"/>
            </a:pPr>
            <a:r>
              <a:rPr lang="es-ES" sz="1400" dirty="0">
                <a:solidFill>
                  <a:schemeClr val="dk1"/>
                </a:solidFill>
              </a:rPr>
              <a:t>API abiertas: API disponibles públicamente que cualquiera puede utilizar para acceder a los datos de una empresa
API internas: API utilizadas dentro de una empresa/organización para comunicar información entre aplicaciones internas
API de socios: API diseñadas específicamente para desarrolladores o socios de terceros y tienen un acceso más limitado</a:t>
            </a:r>
          </a:p>
        </p:txBody>
      </p:sp>
    </p:spTree>
    <p:extLst>
      <p:ext uri="{BB962C8B-B14F-4D97-AF65-F5344CB8AC3E}">
        <p14:creationId xmlns:p14="http://schemas.microsoft.com/office/powerpoint/2010/main" val="1955212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Tipos de API</a:t>
            </a:r>
            <a:endParaRPr dirty="0"/>
          </a:p>
        </p:txBody>
      </p:sp>
      <p:sp>
        <p:nvSpPr>
          <p:cNvPr id="192" name="Google Shape;192;p31"/>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285750" indent="-285750" algn="just">
              <a:buClr>
                <a:schemeClr val="dk1"/>
              </a:buClr>
              <a:buSzPts val="1100"/>
            </a:pPr>
            <a:r>
              <a:rPr lang="es-ES" sz="1400" dirty="0">
                <a:solidFill>
                  <a:schemeClr val="dk1"/>
                </a:solidFill>
              </a:rPr>
              <a:t>Por protocolos:</a:t>
            </a:r>
          </a:p>
          <a:p>
            <a:pPr marL="742950" lvl="1" indent="-285750" algn="just">
              <a:buClr>
                <a:schemeClr val="dk1"/>
              </a:buClr>
              <a:buSzPts val="1100"/>
            </a:pPr>
            <a:r>
              <a:rPr lang="es-ES" sz="1400" dirty="0">
                <a:solidFill>
                  <a:schemeClr val="dk1"/>
                </a:solidFill>
              </a:rPr>
              <a:t>API REST: una arquitectura ampliamente utilizada para crear servicios web que utilizan métodos HTTP como el formato GET, POST, PUT y DELETE para interactuar con los recursos de datos. Las API REST suelen devolver datos en formato JSON o XML.
API SOAP: un protocolo de mensajería utilizado para intercambiar datos estructurados entre servicios web. Las API SOAP utilizan el formato XML para el intercambio de datos y, por lo general, requieren más ancho de banda y potencia de procesamiento que las API REST. Las API de SOAP admiten funciones más avanzadas, como transacciones, seguridad y confiabilidad.</a:t>
            </a:r>
          </a:p>
        </p:txBody>
      </p:sp>
    </p:spTree>
    <p:extLst>
      <p:ext uri="{BB962C8B-B14F-4D97-AF65-F5344CB8AC3E}">
        <p14:creationId xmlns:p14="http://schemas.microsoft.com/office/powerpoint/2010/main" val="3462484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Tipos de API</a:t>
            </a:r>
            <a:endParaRPr dirty="0"/>
          </a:p>
        </p:txBody>
      </p:sp>
      <p:sp>
        <p:nvSpPr>
          <p:cNvPr id="192" name="Google Shape;192;p31"/>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285750" indent="-285750" algn="just">
              <a:buClr>
                <a:schemeClr val="dk1"/>
              </a:buClr>
              <a:buSzPts val="1100"/>
            </a:pPr>
            <a:r>
              <a:rPr lang="es-ES" sz="1400" dirty="0">
                <a:solidFill>
                  <a:schemeClr val="dk1"/>
                </a:solidFill>
              </a:rPr>
              <a:t>Por protocolos:</a:t>
            </a:r>
          </a:p>
          <a:p>
            <a:pPr marL="742950" lvl="1" indent="-285750" algn="just">
              <a:buClr>
                <a:schemeClr val="dk1"/>
              </a:buClr>
              <a:buSzPts val="1100"/>
            </a:pPr>
            <a:r>
              <a:rPr lang="es-ES" sz="1400" dirty="0">
                <a:solidFill>
                  <a:schemeClr val="dk1"/>
                </a:solidFill>
              </a:rPr>
              <a:t>API de </a:t>
            </a:r>
            <a:r>
              <a:rPr lang="es-ES" sz="1400" dirty="0" err="1">
                <a:solidFill>
                  <a:schemeClr val="dk1"/>
                </a:solidFill>
              </a:rPr>
              <a:t>GraphQL</a:t>
            </a:r>
            <a:r>
              <a:rPr lang="es-ES" sz="1400" dirty="0">
                <a:solidFill>
                  <a:schemeClr val="dk1"/>
                </a:solidFill>
              </a:rPr>
              <a:t>: un lenguaje de consulta para API desarrollado por Facebook. Las API de </a:t>
            </a:r>
            <a:r>
              <a:rPr lang="es-ES" sz="1400" dirty="0" err="1">
                <a:solidFill>
                  <a:schemeClr val="dk1"/>
                </a:solidFill>
              </a:rPr>
              <a:t>GraphQL</a:t>
            </a:r>
            <a:r>
              <a:rPr lang="es-ES" sz="1400" dirty="0">
                <a:solidFill>
                  <a:schemeClr val="dk1"/>
                </a:solidFill>
              </a:rPr>
              <a:t> permiten a los desarrolladores recuperar solo los datos que necesitan, utilizando una sola consulta. Esto puede dar lugar a una recuperación de datos más eficiente y a una reducción del tráfico de red. 
API de </a:t>
            </a:r>
            <a:r>
              <a:rPr lang="es-ES" sz="1400" dirty="0" err="1">
                <a:solidFill>
                  <a:schemeClr val="dk1"/>
                </a:solidFill>
              </a:rPr>
              <a:t>webhook</a:t>
            </a:r>
            <a:r>
              <a:rPr lang="es-ES" sz="1400" dirty="0">
                <a:solidFill>
                  <a:schemeClr val="dk1"/>
                </a:solidFill>
              </a:rPr>
              <a:t>: una forma de enviar datos en tiempo real de una aplicación a otra. Las API de </a:t>
            </a:r>
            <a:r>
              <a:rPr lang="es-ES" sz="1400" dirty="0" err="1">
                <a:solidFill>
                  <a:schemeClr val="dk1"/>
                </a:solidFill>
              </a:rPr>
              <a:t>webhook</a:t>
            </a:r>
            <a:r>
              <a:rPr lang="es-ES" sz="1400" dirty="0">
                <a:solidFill>
                  <a:schemeClr val="dk1"/>
                </a:solidFill>
              </a:rPr>
              <a:t> usan una simple solicitud HTTP POST para enviar datos a una dirección URL especificada por la aplicación receptora. A continuación, la aplicación receptora puede realizar acciones sobre los datos en tiempo real. Las API de </a:t>
            </a:r>
            <a:r>
              <a:rPr lang="es-ES" sz="1400" dirty="0" err="1">
                <a:solidFill>
                  <a:schemeClr val="dk1"/>
                </a:solidFill>
              </a:rPr>
              <a:t>webhook</a:t>
            </a:r>
            <a:r>
              <a:rPr lang="es-ES" sz="1400" dirty="0">
                <a:solidFill>
                  <a:schemeClr val="dk1"/>
                </a:solidFill>
              </a:rPr>
              <a:t> se utilizan a menudo para aplicaciones basadas en eventos, como </a:t>
            </a:r>
            <a:r>
              <a:rPr lang="es-ES" sz="1400" dirty="0" err="1">
                <a:solidFill>
                  <a:schemeClr val="dk1"/>
                </a:solidFill>
              </a:rPr>
              <a:t>chatbots</a:t>
            </a:r>
            <a:r>
              <a:rPr lang="es-ES" sz="1400" dirty="0">
                <a:solidFill>
                  <a:schemeClr val="dk1"/>
                </a:solidFill>
              </a:rPr>
              <a:t> o sistemas de notificación.</a:t>
            </a:r>
          </a:p>
        </p:txBody>
      </p:sp>
    </p:spTree>
    <p:extLst>
      <p:ext uri="{BB962C8B-B14F-4D97-AF65-F5344CB8AC3E}">
        <p14:creationId xmlns:p14="http://schemas.microsoft.com/office/powerpoint/2010/main" val="2441478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pic>
        <p:nvPicPr>
          <p:cNvPr id="3074" name="Picture 2" descr="No hay descripción alternativa para esta imagen">
            <a:extLst>
              <a:ext uri="{FF2B5EF4-FFF2-40B4-BE49-F238E27FC236}">
                <a16:creationId xmlns:a16="http://schemas.microsoft.com/office/drawing/2014/main" id="{F2803C4D-C0F1-5D66-1CCA-8F0096646F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0125" y="0"/>
            <a:ext cx="4603750"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Flecha: pentágono 1">
            <a:extLst>
              <a:ext uri="{FF2B5EF4-FFF2-40B4-BE49-F238E27FC236}">
                <a16:creationId xmlns:a16="http://schemas.microsoft.com/office/drawing/2014/main" id="{CF79727E-CA6B-EBEB-7B23-A609E92BAF2C}"/>
              </a:ext>
            </a:extLst>
          </p:cNvPr>
          <p:cNvSpPr/>
          <p:nvPr/>
        </p:nvSpPr>
        <p:spPr>
          <a:xfrm>
            <a:off x="83127" y="619676"/>
            <a:ext cx="2478704" cy="959742"/>
          </a:xfrm>
          <a:prstGeom prst="homePlat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CO" sz="800" dirty="0">
                <a:solidFill>
                  <a:schemeClr val="tx1"/>
                </a:solidFill>
              </a:rPr>
              <a:t>Protocolo basado en XML, con contrato estricto (WSDL) y alto nivel de estandarización. Úsalo en sistemas empresariales legados, banca o telecomunicaciones donde se exige seguridad transaccional formal (WS-Security) y tipado fuerte.</a:t>
            </a:r>
          </a:p>
        </p:txBody>
      </p:sp>
      <p:sp>
        <p:nvSpPr>
          <p:cNvPr id="3" name="Flecha: pentágono 2">
            <a:extLst>
              <a:ext uri="{FF2B5EF4-FFF2-40B4-BE49-F238E27FC236}">
                <a16:creationId xmlns:a16="http://schemas.microsoft.com/office/drawing/2014/main" id="{AC339A17-B955-0055-607E-A5FE953EBC8D}"/>
              </a:ext>
            </a:extLst>
          </p:cNvPr>
          <p:cNvSpPr/>
          <p:nvPr/>
        </p:nvSpPr>
        <p:spPr>
          <a:xfrm>
            <a:off x="83127" y="1792274"/>
            <a:ext cx="2478704" cy="959742"/>
          </a:xfrm>
          <a:prstGeom prst="homePlat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CO" sz="800" dirty="0">
                <a:solidFill>
                  <a:schemeClr val="tx1"/>
                </a:solidFill>
              </a:rPr>
              <a:t>Lenguaje de consulta que permite al cliente pedir los campos que necesita en una sola petición. Ideal cuando hay múltiples clientes con necesidades de datos distintas y se quiere evitar la sobrecarga (traer más campos de los necesarios) o la carga insuficiente (traer menos campos de los necesarios).</a:t>
            </a:r>
          </a:p>
        </p:txBody>
      </p:sp>
      <p:sp>
        <p:nvSpPr>
          <p:cNvPr id="4" name="Flecha: pentágono 3">
            <a:extLst>
              <a:ext uri="{FF2B5EF4-FFF2-40B4-BE49-F238E27FC236}">
                <a16:creationId xmlns:a16="http://schemas.microsoft.com/office/drawing/2014/main" id="{ED713FB3-87F8-11FA-FC05-965DC6066379}"/>
              </a:ext>
            </a:extLst>
          </p:cNvPr>
          <p:cNvSpPr/>
          <p:nvPr/>
        </p:nvSpPr>
        <p:spPr>
          <a:xfrm>
            <a:off x="83127" y="2964872"/>
            <a:ext cx="2478704" cy="959742"/>
          </a:xfrm>
          <a:prstGeom prst="homePlat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CO" sz="800" dirty="0">
                <a:solidFill>
                  <a:schemeClr val="tx1"/>
                </a:solidFill>
              </a:rPr>
              <a:t>Protocolo de comunicación bidireccional y persistente en tiempo real. Se usa en chats, notificaciones en vivo, juegos multijugador o tableros de control que requieren actualización instantánea en ambas direcciones.</a:t>
            </a:r>
          </a:p>
        </p:txBody>
      </p:sp>
      <p:sp>
        <p:nvSpPr>
          <p:cNvPr id="5" name="Flecha: pentágono 4">
            <a:extLst>
              <a:ext uri="{FF2B5EF4-FFF2-40B4-BE49-F238E27FC236}">
                <a16:creationId xmlns:a16="http://schemas.microsoft.com/office/drawing/2014/main" id="{523FBB4C-E1D2-6FB8-6EB9-9E1FC5DA93A7}"/>
              </a:ext>
            </a:extLst>
          </p:cNvPr>
          <p:cNvSpPr/>
          <p:nvPr/>
        </p:nvSpPr>
        <p:spPr>
          <a:xfrm>
            <a:off x="83126" y="4139832"/>
            <a:ext cx="2478703" cy="959742"/>
          </a:xfrm>
          <a:prstGeom prst="homePlat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CO" sz="800" dirty="0">
                <a:solidFill>
                  <a:schemeClr val="tx1"/>
                </a:solidFill>
              </a:rPr>
              <a:t>Protocolo de mensajería ligero tipo publicación/suscripción, diseñado para dispositivos con recursos limitados. Estándar en IoT: sensores, dispositivos embebidos, redes con ancho de banda o batería restringidos.</a:t>
            </a:r>
          </a:p>
        </p:txBody>
      </p:sp>
      <p:sp>
        <p:nvSpPr>
          <p:cNvPr id="6" name="Flecha: pentágono 5">
            <a:extLst>
              <a:ext uri="{FF2B5EF4-FFF2-40B4-BE49-F238E27FC236}">
                <a16:creationId xmlns:a16="http://schemas.microsoft.com/office/drawing/2014/main" id="{D59EAC2F-8806-2F3B-9782-E9592258B4F5}"/>
              </a:ext>
            </a:extLst>
          </p:cNvPr>
          <p:cNvSpPr/>
          <p:nvPr/>
        </p:nvSpPr>
        <p:spPr>
          <a:xfrm flipH="1">
            <a:off x="6582169" y="619676"/>
            <a:ext cx="2478704" cy="959742"/>
          </a:xfrm>
          <a:prstGeom prst="homePlat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s-CO" sz="800" dirty="0">
                <a:solidFill>
                  <a:schemeClr val="tx1"/>
                </a:solidFill>
              </a:rPr>
              <a:t>Arquitectura basada en recursos y verbos HTTP estándar (GET, POST, PUT, DELETE). Es la opción por defecto para la mayoría de </a:t>
            </a:r>
            <a:r>
              <a:rPr lang="es-CO" sz="800" dirty="0" err="1">
                <a:solidFill>
                  <a:schemeClr val="tx1"/>
                </a:solidFill>
              </a:rPr>
              <a:t>APIs</a:t>
            </a:r>
            <a:r>
              <a:rPr lang="es-CO" sz="800" dirty="0">
                <a:solidFill>
                  <a:schemeClr val="tx1"/>
                </a:solidFill>
              </a:rPr>
              <a:t> públicas y operaciones CRUD por su simplicidad, capacidad de almacenamiento en caché y amplio soporte en el ecosistema.</a:t>
            </a:r>
          </a:p>
        </p:txBody>
      </p:sp>
      <p:sp>
        <p:nvSpPr>
          <p:cNvPr id="7" name="Flecha: pentágono 6">
            <a:extLst>
              <a:ext uri="{FF2B5EF4-FFF2-40B4-BE49-F238E27FC236}">
                <a16:creationId xmlns:a16="http://schemas.microsoft.com/office/drawing/2014/main" id="{8E7412D2-0A21-2D5F-6EF3-42D3E32CF0C7}"/>
              </a:ext>
            </a:extLst>
          </p:cNvPr>
          <p:cNvSpPr/>
          <p:nvPr/>
        </p:nvSpPr>
        <p:spPr>
          <a:xfrm flipH="1">
            <a:off x="6582169" y="1792274"/>
            <a:ext cx="2478704" cy="959742"/>
          </a:xfrm>
          <a:prstGeom prst="homePlat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s-CO" sz="800" dirty="0">
                <a:solidFill>
                  <a:schemeClr val="tx1"/>
                </a:solidFill>
              </a:rPr>
              <a:t>Framework de alto rendimiento sobre HTTP/2 que usa Protocol Buffers (formato binario) para llamadas a procedimiento remoto. Perfecto para comunicación entre microservicios internos donde la latencia y la capacidad de procesamiento (volumen de peticiones que se pueden atender por segundo) son críticas.</a:t>
            </a:r>
          </a:p>
        </p:txBody>
      </p:sp>
      <p:sp>
        <p:nvSpPr>
          <p:cNvPr id="8" name="Flecha: pentágono 7">
            <a:extLst>
              <a:ext uri="{FF2B5EF4-FFF2-40B4-BE49-F238E27FC236}">
                <a16:creationId xmlns:a16="http://schemas.microsoft.com/office/drawing/2014/main" id="{3ADA462E-4CB6-2E2B-0FCC-5846A4E6FC22}"/>
              </a:ext>
            </a:extLst>
          </p:cNvPr>
          <p:cNvSpPr/>
          <p:nvPr/>
        </p:nvSpPr>
        <p:spPr>
          <a:xfrm flipH="1">
            <a:off x="6582169" y="2964872"/>
            <a:ext cx="2478704" cy="959742"/>
          </a:xfrm>
          <a:prstGeom prst="homePlat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s-CO" sz="800" dirty="0">
                <a:solidFill>
                  <a:schemeClr val="tx1"/>
                </a:solidFill>
              </a:rPr>
              <a:t>Orientado a eventos donde el servidor envía notificación HTTP (</a:t>
            </a:r>
            <a:r>
              <a:rPr lang="es-CO" sz="800" dirty="0" err="1">
                <a:solidFill>
                  <a:schemeClr val="tx1"/>
                </a:solidFill>
              </a:rPr>
              <a:t>callback</a:t>
            </a:r>
            <a:r>
              <a:rPr lang="es-CO" sz="800" dirty="0">
                <a:solidFill>
                  <a:schemeClr val="tx1"/>
                </a:solidFill>
              </a:rPr>
              <a:t>) al cliente cuando algo ocurre, sin necesidad de que el cliente esté consultando constantemente (sin sondeo o "</a:t>
            </a:r>
            <a:r>
              <a:rPr lang="es-CO" sz="800" dirty="0" err="1">
                <a:solidFill>
                  <a:schemeClr val="tx1"/>
                </a:solidFill>
              </a:rPr>
              <a:t>polling</a:t>
            </a:r>
            <a:r>
              <a:rPr lang="es-CO" sz="800" dirty="0">
                <a:solidFill>
                  <a:schemeClr val="tx1"/>
                </a:solidFill>
              </a:rPr>
              <a:t>"). Común en integraciones, CI/CD o notificaciones de terceros.</a:t>
            </a:r>
          </a:p>
        </p:txBody>
      </p:sp>
      <p:sp>
        <p:nvSpPr>
          <p:cNvPr id="9" name="Flecha: pentágono 8">
            <a:extLst>
              <a:ext uri="{FF2B5EF4-FFF2-40B4-BE49-F238E27FC236}">
                <a16:creationId xmlns:a16="http://schemas.microsoft.com/office/drawing/2014/main" id="{2CC0AD83-698E-0F94-92C0-A9F05C1030C1}"/>
              </a:ext>
            </a:extLst>
          </p:cNvPr>
          <p:cNvSpPr/>
          <p:nvPr/>
        </p:nvSpPr>
        <p:spPr>
          <a:xfrm flipH="1">
            <a:off x="6582169" y="4055288"/>
            <a:ext cx="2478704" cy="959742"/>
          </a:xfrm>
          <a:prstGeom prst="homePlat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s-CO" sz="800" dirty="0">
                <a:solidFill>
                  <a:schemeClr val="tx1"/>
                </a:solidFill>
              </a:rPr>
              <a:t>Protocolo de mensajería robusto con colas, intercambiadores ("</a:t>
            </a:r>
            <a:r>
              <a:rPr lang="es-CO" sz="800" dirty="0" err="1">
                <a:solidFill>
                  <a:schemeClr val="tx1"/>
                </a:solidFill>
              </a:rPr>
              <a:t>exchanges</a:t>
            </a:r>
            <a:r>
              <a:rPr lang="es-CO" sz="800" dirty="0">
                <a:solidFill>
                  <a:schemeClr val="tx1"/>
                </a:solidFill>
              </a:rPr>
              <a:t>") y garantías de entrega (usado por </a:t>
            </a:r>
            <a:r>
              <a:rPr lang="es-CO" sz="800" dirty="0" err="1">
                <a:solidFill>
                  <a:schemeClr val="tx1"/>
                </a:solidFill>
              </a:rPr>
              <a:t>RabbitMQ</a:t>
            </a:r>
            <a:r>
              <a:rPr lang="es-CO" sz="800" dirty="0">
                <a:solidFill>
                  <a:schemeClr val="tx1"/>
                </a:solidFill>
              </a:rPr>
              <a:t>). Uso en sistemas empresariales que necesitan procesamiento asíncrono confiable, colas de tareas y desacoplamiento entre servicios.</a:t>
            </a:r>
          </a:p>
        </p:txBody>
      </p:sp>
    </p:spTree>
    <p:extLst>
      <p:ext uri="{BB962C8B-B14F-4D97-AF65-F5344CB8AC3E}">
        <p14:creationId xmlns:p14="http://schemas.microsoft.com/office/powerpoint/2010/main" val="3956243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pic>
        <p:nvPicPr>
          <p:cNvPr id="4098" name="Picture 2" descr="Vista previa de la imagen">
            <a:extLst>
              <a:ext uri="{FF2B5EF4-FFF2-40B4-BE49-F238E27FC236}">
                <a16:creationId xmlns:a16="http://schemas.microsoft.com/office/drawing/2014/main" id="{1286E1EA-AAAA-6DB5-2954-A4FA7C3274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2850" y="0"/>
            <a:ext cx="4176713"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71507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Servicio web</a:t>
            </a:r>
            <a:endParaRPr dirty="0"/>
          </a:p>
        </p:txBody>
      </p:sp>
      <p:sp>
        <p:nvSpPr>
          <p:cNvPr id="192" name="Google Shape;192;p31"/>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285750" indent="-285750" algn="just">
              <a:buClr>
                <a:schemeClr val="dk1"/>
              </a:buClr>
              <a:buSzPts val="1100"/>
            </a:pPr>
            <a:r>
              <a:rPr lang="es-ES" sz="1400" dirty="0">
                <a:solidFill>
                  <a:schemeClr val="dk1"/>
                </a:solidFill>
              </a:rPr>
              <a:t>Tecnología que utiliza diferentes protocolos y estándares para intercambiar datos entre aplicaciones.</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Un servicio web es un tipo de API.</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Ofrecen interoperabilidad entre aplicaciones de software que se ejecutan en distintas plataformas y desarrolladas con distintos marcos de trabajo (</a:t>
            </a:r>
            <a:r>
              <a:rPr lang="es-ES" sz="1400" dirty="0" err="1">
                <a:solidFill>
                  <a:schemeClr val="dk1"/>
                </a:solidFill>
              </a:rPr>
              <a:t>framework</a:t>
            </a:r>
            <a:r>
              <a:rPr lang="es-ES" sz="1400" dirty="0">
                <a:solidFill>
                  <a:schemeClr val="dk1"/>
                </a:solidFill>
              </a:rPr>
              <a:t>).</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Pueden ser utilizados para conformar nuevos servicios que ofrecen un nuevo valor agregado.</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Se emplea un mecanismo de intercambio de mensajes entre peticiones y respuestas.</a:t>
            </a:r>
          </a:p>
        </p:txBody>
      </p:sp>
    </p:spTree>
    <p:extLst>
      <p:ext uri="{BB962C8B-B14F-4D97-AF65-F5344CB8AC3E}">
        <p14:creationId xmlns:p14="http://schemas.microsoft.com/office/powerpoint/2010/main" val="20403986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Servicio web: estandares empleados</a:t>
            </a:r>
            <a:endParaRPr dirty="0"/>
          </a:p>
        </p:txBody>
      </p:sp>
      <p:sp>
        <p:nvSpPr>
          <p:cNvPr id="192" name="Google Shape;192;p31"/>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285750" indent="-285750" algn="just">
              <a:buClr>
                <a:schemeClr val="dk1"/>
              </a:buClr>
              <a:buSzPts val="1100"/>
            </a:pPr>
            <a:r>
              <a:rPr lang="es-ES" sz="1400" dirty="0">
                <a:solidFill>
                  <a:schemeClr val="dk1"/>
                </a:solidFill>
              </a:rPr>
              <a:t>XML (Extensible </a:t>
            </a:r>
            <a:r>
              <a:rPr lang="es-ES" sz="1400" dirty="0" err="1">
                <a:solidFill>
                  <a:schemeClr val="dk1"/>
                </a:solidFill>
              </a:rPr>
              <a:t>Markup</a:t>
            </a:r>
            <a:r>
              <a:rPr lang="es-ES" sz="1400" dirty="0">
                <a:solidFill>
                  <a:schemeClr val="dk1"/>
                </a:solidFill>
              </a:rPr>
              <a:t> </a:t>
            </a:r>
            <a:r>
              <a:rPr lang="es-ES" sz="1400" dirty="0" err="1">
                <a:solidFill>
                  <a:schemeClr val="dk1"/>
                </a:solidFill>
              </a:rPr>
              <a:t>Language</a:t>
            </a:r>
            <a:r>
              <a:rPr lang="es-ES" sz="1400" dirty="0">
                <a:solidFill>
                  <a:schemeClr val="dk1"/>
                </a:solidFill>
              </a:rPr>
              <a:t>)</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SOAP (Simple </a:t>
            </a:r>
            <a:r>
              <a:rPr lang="es-ES" sz="1400" dirty="0" err="1">
                <a:solidFill>
                  <a:schemeClr val="dk1"/>
                </a:solidFill>
              </a:rPr>
              <a:t>Object</a:t>
            </a:r>
            <a:r>
              <a:rPr lang="es-ES" sz="1400" dirty="0">
                <a:solidFill>
                  <a:schemeClr val="dk1"/>
                </a:solidFill>
              </a:rPr>
              <a:t> Access </a:t>
            </a:r>
            <a:r>
              <a:rPr lang="es-ES" sz="1400" dirty="0" err="1">
                <a:solidFill>
                  <a:schemeClr val="dk1"/>
                </a:solidFill>
              </a:rPr>
              <a:t>Protocol</a:t>
            </a:r>
            <a:r>
              <a:rPr lang="es-ES" sz="1400" dirty="0">
                <a:solidFill>
                  <a:schemeClr val="dk1"/>
                </a:solidFill>
              </a:rPr>
              <a:t>)</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WSDL (Web </a:t>
            </a:r>
            <a:r>
              <a:rPr lang="es-ES" sz="1400" dirty="0" err="1">
                <a:solidFill>
                  <a:schemeClr val="dk1"/>
                </a:solidFill>
              </a:rPr>
              <a:t>Services</a:t>
            </a:r>
            <a:r>
              <a:rPr lang="es-ES" sz="1400" dirty="0">
                <a:solidFill>
                  <a:schemeClr val="dk1"/>
                </a:solidFill>
              </a:rPr>
              <a:t> </a:t>
            </a:r>
            <a:r>
              <a:rPr lang="es-ES" sz="1400" dirty="0" err="1">
                <a:solidFill>
                  <a:schemeClr val="dk1"/>
                </a:solidFill>
              </a:rPr>
              <a:t>Description</a:t>
            </a:r>
            <a:r>
              <a:rPr lang="es-ES" sz="1400" dirty="0">
                <a:solidFill>
                  <a:schemeClr val="dk1"/>
                </a:solidFill>
              </a:rPr>
              <a:t> </a:t>
            </a:r>
            <a:r>
              <a:rPr lang="es-ES" sz="1400" dirty="0" err="1">
                <a:solidFill>
                  <a:schemeClr val="dk1"/>
                </a:solidFill>
              </a:rPr>
              <a:t>Language</a:t>
            </a:r>
            <a:r>
              <a:rPr lang="es-ES" sz="1400" dirty="0">
                <a:solidFill>
                  <a:schemeClr val="dk1"/>
                </a:solidFill>
              </a:rPr>
              <a:t>)</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UDDI (Universal </a:t>
            </a:r>
            <a:r>
              <a:rPr lang="es-ES" sz="1400" dirty="0" err="1">
                <a:solidFill>
                  <a:schemeClr val="dk1"/>
                </a:solidFill>
              </a:rPr>
              <a:t>Description</a:t>
            </a:r>
            <a:r>
              <a:rPr lang="es-ES" sz="1400" dirty="0">
                <a:solidFill>
                  <a:schemeClr val="dk1"/>
                </a:solidFill>
              </a:rPr>
              <a:t>, Discovery and </a:t>
            </a:r>
            <a:r>
              <a:rPr lang="es-ES" sz="1400" dirty="0" err="1">
                <a:solidFill>
                  <a:schemeClr val="dk1"/>
                </a:solidFill>
              </a:rPr>
              <a:t>Integration</a:t>
            </a:r>
            <a:r>
              <a:rPr lang="es-ES" sz="1400" dirty="0">
                <a:solidFill>
                  <a:schemeClr val="dk1"/>
                </a:solidFill>
              </a:rPr>
              <a:t>)</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WS-Security (Web </a:t>
            </a:r>
            <a:r>
              <a:rPr lang="es-ES" sz="1400" dirty="0" err="1">
                <a:solidFill>
                  <a:schemeClr val="dk1"/>
                </a:solidFill>
              </a:rPr>
              <a:t>Service</a:t>
            </a:r>
            <a:r>
              <a:rPr lang="es-ES" sz="1400" dirty="0">
                <a:solidFill>
                  <a:schemeClr val="dk1"/>
                </a:solidFill>
              </a:rPr>
              <a:t> Security)</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REST (</a:t>
            </a:r>
            <a:r>
              <a:rPr lang="es-ES" sz="1400" dirty="0" err="1">
                <a:solidFill>
                  <a:schemeClr val="dk1"/>
                </a:solidFill>
              </a:rPr>
              <a:t>Representational</a:t>
            </a:r>
            <a:r>
              <a:rPr lang="es-ES" sz="1400" dirty="0">
                <a:solidFill>
                  <a:schemeClr val="dk1"/>
                </a:solidFill>
              </a:rPr>
              <a:t> </a:t>
            </a:r>
            <a:r>
              <a:rPr lang="es-ES" sz="1400" dirty="0" err="1">
                <a:solidFill>
                  <a:schemeClr val="dk1"/>
                </a:solidFill>
              </a:rPr>
              <a:t>State</a:t>
            </a:r>
            <a:r>
              <a:rPr lang="es-ES" sz="1400" dirty="0">
                <a:solidFill>
                  <a:schemeClr val="dk1"/>
                </a:solidFill>
              </a:rPr>
              <a:t> Transfer)</a:t>
            </a:r>
          </a:p>
        </p:txBody>
      </p:sp>
    </p:spTree>
    <p:extLst>
      <p:ext uri="{BB962C8B-B14F-4D97-AF65-F5344CB8AC3E}">
        <p14:creationId xmlns:p14="http://schemas.microsoft.com/office/powerpoint/2010/main" val="135879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SOAP: </a:t>
            </a:r>
            <a:r>
              <a:rPr lang="en-US" dirty="0"/>
              <a:t>Simple Object Access Protocol</a:t>
            </a:r>
            <a:endParaRPr dirty="0"/>
          </a:p>
        </p:txBody>
      </p:sp>
      <p:sp>
        <p:nvSpPr>
          <p:cNvPr id="192" name="Google Shape;192;p31"/>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sz="1400" dirty="0">
                <a:solidFill>
                  <a:schemeClr val="dk1"/>
                </a:solidFill>
              </a:rPr>
              <a:t>Protocolo estándar para la comunicación entre objetos intercambiando datos XML</a:t>
            </a:r>
          </a:p>
          <a:p>
            <a:pPr marL="0" lvl="0" indent="0" algn="just" rtl="0">
              <a:spcBef>
                <a:spcPts val="0"/>
              </a:spcBef>
              <a:spcAft>
                <a:spcPts val="0"/>
              </a:spcAft>
              <a:buClr>
                <a:schemeClr val="dk1"/>
              </a:buClr>
              <a:buSzPts val="1100"/>
              <a:buFont typeface="Arial"/>
              <a:buNone/>
            </a:pPr>
            <a:endParaRPr lang="es-ES" sz="1400" dirty="0">
              <a:solidFill>
                <a:schemeClr val="dk1"/>
              </a:solidFill>
            </a:endParaRPr>
          </a:p>
          <a:p>
            <a:pPr marL="285750" indent="-285750" algn="just">
              <a:buClr>
                <a:schemeClr val="dk1"/>
              </a:buClr>
              <a:buSzPts val="1100"/>
            </a:pPr>
            <a:r>
              <a:rPr lang="es-ES" sz="1400" dirty="0">
                <a:solidFill>
                  <a:schemeClr val="dk1"/>
                </a:solidFill>
              </a:rPr>
              <a:t>Mensajería sin estados</a:t>
            </a:r>
          </a:p>
          <a:p>
            <a:pPr marL="285750" indent="-285750" algn="just">
              <a:buClr>
                <a:schemeClr val="dk1"/>
              </a:buClr>
              <a:buSzPts val="1100"/>
            </a:pPr>
            <a:r>
              <a:rPr lang="es-ES" sz="1400" dirty="0">
                <a:solidFill>
                  <a:schemeClr val="dk1"/>
                </a:solidFill>
              </a:rPr>
              <a:t>Conformado de tres partes:</a:t>
            </a:r>
          </a:p>
          <a:p>
            <a:pPr marL="742950" lvl="1" indent="-285750" algn="just">
              <a:buClr>
                <a:schemeClr val="dk1"/>
              </a:buClr>
              <a:buSzPts val="1100"/>
            </a:pPr>
            <a:r>
              <a:rPr lang="es-ES" sz="1400" dirty="0">
                <a:solidFill>
                  <a:schemeClr val="dk1"/>
                </a:solidFill>
              </a:rPr>
              <a:t>Sobre (</a:t>
            </a:r>
            <a:r>
              <a:rPr lang="es-ES" sz="1400" dirty="0" err="1">
                <a:solidFill>
                  <a:schemeClr val="dk1"/>
                </a:solidFill>
              </a:rPr>
              <a:t>envelope</a:t>
            </a:r>
            <a:r>
              <a:rPr lang="es-ES" sz="1400" dirty="0">
                <a:solidFill>
                  <a:schemeClr val="dk1"/>
                </a:solidFill>
              </a:rPr>
              <a:t>)</a:t>
            </a:r>
          </a:p>
          <a:p>
            <a:pPr marL="742950" lvl="1" indent="-285750" algn="just">
              <a:buClr>
                <a:schemeClr val="dk1"/>
              </a:buClr>
              <a:buSzPts val="1100"/>
            </a:pPr>
            <a:r>
              <a:rPr lang="es-ES" sz="1400" dirty="0">
                <a:solidFill>
                  <a:schemeClr val="dk1"/>
                </a:solidFill>
              </a:rPr>
              <a:t>Reglas de codificación</a:t>
            </a:r>
          </a:p>
          <a:p>
            <a:pPr marL="742950" lvl="1" indent="-285750" algn="just">
              <a:buClr>
                <a:schemeClr val="dk1"/>
              </a:buClr>
              <a:buSzPts val="1100"/>
            </a:pPr>
            <a:r>
              <a:rPr lang="es-ES" sz="1400" dirty="0">
                <a:solidFill>
                  <a:schemeClr val="dk1"/>
                </a:solidFill>
              </a:rPr>
              <a:t>Convención</a:t>
            </a:r>
          </a:p>
        </p:txBody>
      </p:sp>
      <p:pic>
        <p:nvPicPr>
          <p:cNvPr id="3" name="Imagen 2">
            <a:extLst>
              <a:ext uri="{FF2B5EF4-FFF2-40B4-BE49-F238E27FC236}">
                <a16:creationId xmlns:a16="http://schemas.microsoft.com/office/drawing/2014/main" id="{174428DF-51BB-4781-5E35-16277D3DE745}"/>
              </a:ext>
            </a:extLst>
          </p:cNvPr>
          <p:cNvPicPr>
            <a:picLocks noChangeAspect="1"/>
          </p:cNvPicPr>
          <p:nvPr/>
        </p:nvPicPr>
        <p:blipFill>
          <a:blip r:embed="rId3"/>
          <a:stretch>
            <a:fillRect/>
          </a:stretch>
        </p:blipFill>
        <p:spPr>
          <a:xfrm>
            <a:off x="5153478" y="1960562"/>
            <a:ext cx="2481036" cy="2675259"/>
          </a:xfrm>
          <a:prstGeom prst="rect">
            <a:avLst/>
          </a:prstGeom>
        </p:spPr>
      </p:pic>
      <p:sp>
        <p:nvSpPr>
          <p:cNvPr id="5" name="CuadroTexto 4">
            <a:extLst>
              <a:ext uri="{FF2B5EF4-FFF2-40B4-BE49-F238E27FC236}">
                <a16:creationId xmlns:a16="http://schemas.microsoft.com/office/drawing/2014/main" id="{E1A7E20E-878F-E1B2-6423-C04949B0DD3B}"/>
              </a:ext>
            </a:extLst>
          </p:cNvPr>
          <p:cNvSpPr txBox="1"/>
          <p:nvPr/>
        </p:nvSpPr>
        <p:spPr>
          <a:xfrm>
            <a:off x="4804228" y="4568875"/>
            <a:ext cx="2735943" cy="307777"/>
          </a:xfrm>
          <a:prstGeom prst="rect">
            <a:avLst/>
          </a:prstGeom>
          <a:noFill/>
        </p:spPr>
        <p:txBody>
          <a:bodyPr wrap="square">
            <a:spAutoFit/>
          </a:bodyPr>
          <a:lstStyle/>
          <a:p>
            <a:pPr marL="742950" lvl="1" indent="-285750" algn="just">
              <a:buClr>
                <a:schemeClr val="dk1"/>
              </a:buClr>
              <a:buSzPts val="1100"/>
            </a:pPr>
            <a:r>
              <a:rPr lang="es-ES" sz="1400" dirty="0">
                <a:solidFill>
                  <a:schemeClr val="dk1"/>
                </a:solidFill>
              </a:rPr>
              <a:t>Estructura mensaje SOAP</a:t>
            </a:r>
          </a:p>
        </p:txBody>
      </p:sp>
    </p:spTree>
    <p:extLst>
      <p:ext uri="{BB962C8B-B14F-4D97-AF65-F5344CB8AC3E}">
        <p14:creationId xmlns:p14="http://schemas.microsoft.com/office/powerpoint/2010/main" val="1319753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SOAP: </a:t>
            </a:r>
            <a:r>
              <a:rPr lang="en-US" dirty="0"/>
              <a:t>Simple Object Access Protocol</a:t>
            </a:r>
            <a:endParaRPr dirty="0"/>
          </a:p>
        </p:txBody>
      </p:sp>
      <p:sp>
        <p:nvSpPr>
          <p:cNvPr id="192" name="Google Shape;192;p31"/>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sz="1400" dirty="0">
                <a:solidFill>
                  <a:schemeClr val="dk1"/>
                </a:solidFill>
              </a:rPr>
              <a:t>Protocolo estándar para la comunicación entre objetos intercambiando datos XML</a:t>
            </a:r>
          </a:p>
        </p:txBody>
      </p:sp>
      <p:pic>
        <p:nvPicPr>
          <p:cNvPr id="4" name="Imagen 3">
            <a:extLst>
              <a:ext uri="{FF2B5EF4-FFF2-40B4-BE49-F238E27FC236}">
                <a16:creationId xmlns:a16="http://schemas.microsoft.com/office/drawing/2014/main" id="{0EC056EA-1F47-C0BF-E479-E4D2848E1D7D}"/>
              </a:ext>
            </a:extLst>
          </p:cNvPr>
          <p:cNvPicPr>
            <a:picLocks noChangeAspect="1"/>
          </p:cNvPicPr>
          <p:nvPr/>
        </p:nvPicPr>
        <p:blipFill>
          <a:blip r:embed="rId3"/>
          <a:stretch>
            <a:fillRect/>
          </a:stretch>
        </p:blipFill>
        <p:spPr>
          <a:xfrm>
            <a:off x="1934003" y="1683657"/>
            <a:ext cx="5275943" cy="2802845"/>
          </a:xfrm>
          <a:prstGeom prst="rect">
            <a:avLst/>
          </a:prstGeom>
        </p:spPr>
      </p:pic>
    </p:spTree>
    <p:extLst>
      <p:ext uri="{BB962C8B-B14F-4D97-AF65-F5344CB8AC3E}">
        <p14:creationId xmlns:p14="http://schemas.microsoft.com/office/powerpoint/2010/main" val="33440830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REST: Representational State Transfer</a:t>
            </a:r>
            <a:endParaRPr dirty="0"/>
          </a:p>
        </p:txBody>
      </p:sp>
      <p:sp>
        <p:nvSpPr>
          <p:cNvPr id="192" name="Google Shape;192;p31"/>
          <p:cNvSpPr txBox="1">
            <a:spLocks noGrp="1"/>
          </p:cNvSpPr>
          <p:nvPr>
            <p:ph type="body" idx="1"/>
          </p:nvPr>
        </p:nvSpPr>
        <p:spPr>
          <a:xfrm>
            <a:off x="713225" y="1190171"/>
            <a:ext cx="7717500" cy="3378704"/>
          </a:xfrm>
          <a:prstGeom prst="rect">
            <a:avLst/>
          </a:prstGeom>
        </p:spPr>
        <p:txBody>
          <a:bodyPr spcFirstLastPara="1" wrap="square" lIns="91425" tIns="91425" rIns="91425" bIns="91425" anchor="t" anchorCtr="0">
            <a:noAutofit/>
          </a:bodyPr>
          <a:lstStyle/>
          <a:p>
            <a:pPr marL="285750" indent="-285750" algn="just">
              <a:buClr>
                <a:schemeClr val="dk1"/>
              </a:buClr>
              <a:buSzPts val="1100"/>
            </a:pPr>
            <a:r>
              <a:rPr lang="es-ES" sz="1400" dirty="0">
                <a:solidFill>
                  <a:schemeClr val="dk1"/>
                </a:solidFill>
              </a:rPr>
              <a:t>Técnica “arquitectural” que se emplea en el diseño de aplicaciones que se ejecutan sobre redes de comunicaciones.</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Utiliza el protocolo HTTP (</a:t>
            </a:r>
            <a:r>
              <a:rPr lang="es-ES" sz="1400" dirty="0" err="1">
                <a:solidFill>
                  <a:schemeClr val="dk1"/>
                </a:solidFill>
              </a:rPr>
              <a:t>Hypertext</a:t>
            </a:r>
            <a:r>
              <a:rPr lang="es-ES" sz="1400" dirty="0">
                <a:solidFill>
                  <a:schemeClr val="dk1"/>
                </a:solidFill>
              </a:rPr>
              <a:t> Transfer </a:t>
            </a:r>
            <a:r>
              <a:rPr lang="es-ES" sz="1400" dirty="0" err="1">
                <a:solidFill>
                  <a:schemeClr val="dk1"/>
                </a:solidFill>
              </a:rPr>
              <a:t>Protocol</a:t>
            </a:r>
            <a:r>
              <a:rPr lang="es-ES" sz="1400" dirty="0">
                <a:solidFill>
                  <a:schemeClr val="dk1"/>
                </a:solidFill>
              </a:rPr>
              <a:t>) existente para realizar llamadas.</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endParaRPr lang="es-ES" sz="1400" dirty="0">
              <a:solidFill>
                <a:schemeClr val="dk1"/>
              </a:solidFill>
            </a:endParaRPr>
          </a:p>
        </p:txBody>
      </p:sp>
    </p:spTree>
    <p:extLst>
      <p:ext uri="{BB962C8B-B14F-4D97-AF65-F5344CB8AC3E}">
        <p14:creationId xmlns:p14="http://schemas.microsoft.com/office/powerpoint/2010/main" val="1640251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REST: Representational State Transfer</a:t>
            </a:r>
            <a:endParaRPr dirty="0"/>
          </a:p>
        </p:txBody>
      </p:sp>
      <p:sp>
        <p:nvSpPr>
          <p:cNvPr id="192" name="Google Shape;192;p31"/>
          <p:cNvSpPr txBox="1">
            <a:spLocks noGrp="1"/>
          </p:cNvSpPr>
          <p:nvPr>
            <p:ph type="body" idx="1"/>
          </p:nvPr>
        </p:nvSpPr>
        <p:spPr>
          <a:xfrm>
            <a:off x="713225" y="1190171"/>
            <a:ext cx="7717500" cy="3378704"/>
          </a:xfrm>
          <a:prstGeom prst="rect">
            <a:avLst/>
          </a:prstGeom>
        </p:spPr>
        <p:txBody>
          <a:bodyPr spcFirstLastPara="1" wrap="square" lIns="91425" tIns="91425" rIns="91425" bIns="91425" anchor="t" anchorCtr="0">
            <a:noAutofit/>
          </a:bodyPr>
          <a:lstStyle/>
          <a:p>
            <a:pPr marL="285750" indent="-285750" algn="just">
              <a:buClr>
                <a:schemeClr val="dk1"/>
              </a:buClr>
              <a:buSzPts val="1100"/>
            </a:pPr>
            <a:r>
              <a:rPr lang="es-ES" sz="1400" dirty="0">
                <a:solidFill>
                  <a:schemeClr val="dk1"/>
                </a:solidFill>
              </a:rPr>
              <a:t>Independencia de plataforma.</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Independencia de lenguaje de programación.</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Basado en estándares.</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Puede ser usado fácilmente en presencia de firewall.</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Protocolo cliente/servidor sin estado.</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Sólo utiliza HTTP</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Métodos HTTP: GET, POST, PUT, DELETE</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Las respuestas a las peticiones se hacen siempre en un lenguaje de intercambio de información, normalmente XML o JSON</a:t>
            </a:r>
          </a:p>
          <a:p>
            <a:pPr marL="285750" indent="-285750" algn="just">
              <a:buClr>
                <a:schemeClr val="dk1"/>
              </a:buClr>
              <a:buSzPts val="1100"/>
            </a:pPr>
            <a:endParaRPr lang="es-ES" sz="1400" dirty="0">
              <a:solidFill>
                <a:schemeClr val="dk1"/>
              </a:solidFill>
            </a:endParaRPr>
          </a:p>
        </p:txBody>
      </p:sp>
    </p:spTree>
    <p:extLst>
      <p:ext uri="{BB962C8B-B14F-4D97-AF65-F5344CB8AC3E}">
        <p14:creationId xmlns:p14="http://schemas.microsoft.com/office/powerpoint/2010/main" val="40023658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REST: Representational State Transfer</a:t>
            </a:r>
            <a:endParaRPr dirty="0"/>
          </a:p>
        </p:txBody>
      </p:sp>
      <p:sp>
        <p:nvSpPr>
          <p:cNvPr id="192" name="Google Shape;192;p31"/>
          <p:cNvSpPr txBox="1">
            <a:spLocks noGrp="1"/>
          </p:cNvSpPr>
          <p:nvPr>
            <p:ph type="body" idx="1"/>
          </p:nvPr>
        </p:nvSpPr>
        <p:spPr>
          <a:xfrm>
            <a:off x="713225" y="4101929"/>
            <a:ext cx="7717500" cy="46694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s-ES" sz="1400" dirty="0">
                <a:solidFill>
                  <a:schemeClr val="dk1"/>
                </a:solidFill>
              </a:rPr>
              <a:t>Lenguajes de programación soportan librerías para peticiones HTTP</a:t>
            </a:r>
          </a:p>
        </p:txBody>
      </p:sp>
      <p:pic>
        <p:nvPicPr>
          <p:cNvPr id="3" name="Imagen 2">
            <a:extLst>
              <a:ext uri="{FF2B5EF4-FFF2-40B4-BE49-F238E27FC236}">
                <a16:creationId xmlns:a16="http://schemas.microsoft.com/office/drawing/2014/main" id="{80974ED4-351E-ED79-EE5B-B434E87F031B}"/>
              </a:ext>
            </a:extLst>
          </p:cNvPr>
          <p:cNvPicPr>
            <a:picLocks noChangeAspect="1"/>
          </p:cNvPicPr>
          <p:nvPr/>
        </p:nvPicPr>
        <p:blipFill>
          <a:blip r:embed="rId3"/>
          <a:stretch>
            <a:fillRect/>
          </a:stretch>
        </p:blipFill>
        <p:spPr>
          <a:xfrm>
            <a:off x="1466014" y="1041569"/>
            <a:ext cx="6211971" cy="3060361"/>
          </a:xfrm>
          <a:prstGeom prst="rect">
            <a:avLst/>
          </a:prstGeom>
        </p:spPr>
      </p:pic>
    </p:spTree>
    <p:extLst>
      <p:ext uri="{BB962C8B-B14F-4D97-AF65-F5344CB8AC3E}">
        <p14:creationId xmlns:p14="http://schemas.microsoft.com/office/powerpoint/2010/main" val="4657778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REST</a:t>
            </a:r>
            <a:endParaRPr dirty="0"/>
          </a:p>
        </p:txBody>
      </p:sp>
      <p:sp>
        <p:nvSpPr>
          <p:cNvPr id="192" name="Google Shape;192;p31"/>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285750" indent="-285750" algn="just">
              <a:buClr>
                <a:schemeClr val="dk1"/>
              </a:buClr>
              <a:buSzPts val="1100"/>
            </a:pPr>
            <a:r>
              <a:rPr lang="es-ES" sz="1400" dirty="0">
                <a:solidFill>
                  <a:schemeClr val="dk1"/>
                </a:solidFill>
              </a:rPr>
              <a:t>En el estilo arquitectónico REST todo es visto como un </a:t>
            </a:r>
            <a:r>
              <a:rPr lang="es-ES" sz="1400" b="1" dirty="0">
                <a:solidFill>
                  <a:schemeClr val="dk1"/>
                </a:solidFill>
              </a:rPr>
              <a:t>recurso</a:t>
            </a:r>
            <a:r>
              <a:rPr lang="es-ES" sz="1400" dirty="0">
                <a:solidFill>
                  <a:schemeClr val="dk1"/>
                </a:solidFill>
              </a:rPr>
              <a:t>.</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Un servicio web basado en el estilo REST es conocido como </a:t>
            </a:r>
            <a:r>
              <a:rPr lang="es-ES" sz="1400" dirty="0" err="1">
                <a:solidFill>
                  <a:schemeClr val="dk1"/>
                </a:solidFill>
              </a:rPr>
              <a:t>RESTful</a:t>
            </a:r>
            <a:r>
              <a:rPr lang="es-ES" sz="1400" dirty="0">
                <a:solidFill>
                  <a:schemeClr val="dk1"/>
                </a:solidFill>
              </a:rPr>
              <a:t>.</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Un </a:t>
            </a:r>
            <a:r>
              <a:rPr lang="es-ES" sz="1400" b="1" dirty="0">
                <a:solidFill>
                  <a:schemeClr val="dk1"/>
                </a:solidFill>
              </a:rPr>
              <a:t>recurso</a:t>
            </a:r>
            <a:r>
              <a:rPr lang="es-ES" sz="1400" dirty="0">
                <a:solidFill>
                  <a:schemeClr val="dk1"/>
                </a:solidFill>
              </a:rPr>
              <a:t> es una entidad abstracta identificada con una URI. </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La </a:t>
            </a:r>
            <a:r>
              <a:rPr lang="es-ES" sz="1400" dirty="0" err="1">
                <a:solidFill>
                  <a:schemeClr val="dk1"/>
                </a:solidFill>
              </a:rPr>
              <a:t>World</a:t>
            </a:r>
            <a:r>
              <a:rPr lang="es-ES" sz="1400" dirty="0">
                <a:solidFill>
                  <a:schemeClr val="dk1"/>
                </a:solidFill>
              </a:rPr>
              <a:t> Wide Web es un ejemplo clásico de la arquitectura de estilo REST: los URI identifican los recursos y HTTP es el protocolo por el cual se accede a estos.</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Un programa cliente, como un navegador web, puede acceder, actualizar, agregar o quitar un recurso web a través del URI utilizando diversos métodos HTTP.</a:t>
            </a:r>
            <a:endParaRPr sz="1400" dirty="0">
              <a:solidFill>
                <a:schemeClr val="dk1"/>
              </a:solidFill>
            </a:endParaRPr>
          </a:p>
        </p:txBody>
      </p:sp>
    </p:spTree>
    <p:extLst>
      <p:ext uri="{BB962C8B-B14F-4D97-AF65-F5344CB8AC3E}">
        <p14:creationId xmlns:p14="http://schemas.microsoft.com/office/powerpoint/2010/main" val="41182449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REST: URI</a:t>
            </a:r>
            <a:endParaRPr dirty="0"/>
          </a:p>
        </p:txBody>
      </p:sp>
      <p:sp>
        <p:nvSpPr>
          <p:cNvPr id="192" name="Google Shape;192;p31"/>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285750" indent="-285750" algn="just">
              <a:buClr>
                <a:schemeClr val="dk1"/>
              </a:buClr>
              <a:buSzPts val="1100"/>
            </a:pPr>
            <a:r>
              <a:rPr lang="es-ES" sz="1400" dirty="0">
                <a:solidFill>
                  <a:schemeClr val="dk1"/>
                </a:solidFill>
              </a:rPr>
              <a:t>Identificador de recursos que funcionan en la web.</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Consiste de:</a:t>
            </a:r>
          </a:p>
          <a:p>
            <a:pPr marL="0" indent="0" algn="just">
              <a:buClr>
                <a:schemeClr val="dk1"/>
              </a:buClr>
              <a:buSzPts val="1100"/>
              <a:buNone/>
            </a:pPr>
            <a:endParaRPr lang="es-ES" sz="1400" dirty="0">
              <a:solidFill>
                <a:schemeClr val="dk1"/>
              </a:solidFill>
            </a:endParaRPr>
          </a:p>
          <a:p>
            <a:pPr marL="0" indent="0" algn="just">
              <a:buClr>
                <a:schemeClr val="dk1"/>
              </a:buClr>
              <a:buSzPts val="1100"/>
              <a:buNone/>
            </a:pPr>
            <a:r>
              <a:rPr lang="es-ES" sz="1400" dirty="0">
                <a:solidFill>
                  <a:schemeClr val="dk1"/>
                </a:solidFill>
              </a:rPr>
              <a:t>	– Esquema: http o https</a:t>
            </a:r>
          </a:p>
          <a:p>
            <a:pPr marL="0" indent="0" algn="just">
              <a:buClr>
                <a:schemeClr val="dk1"/>
              </a:buClr>
              <a:buSzPts val="1100"/>
              <a:buNone/>
            </a:pPr>
            <a:r>
              <a:rPr lang="es-ES" sz="1400" dirty="0">
                <a:solidFill>
                  <a:schemeClr val="dk1"/>
                </a:solidFill>
              </a:rPr>
              <a:t>	– Host: www.midominio.com</a:t>
            </a:r>
          </a:p>
          <a:p>
            <a:pPr marL="0" indent="0" algn="just">
              <a:buClr>
                <a:schemeClr val="dk1"/>
              </a:buClr>
              <a:buSzPts val="1100"/>
              <a:buNone/>
            </a:pPr>
            <a:r>
              <a:rPr lang="es-ES" sz="1400" dirty="0">
                <a:solidFill>
                  <a:schemeClr val="dk1"/>
                </a:solidFill>
              </a:rPr>
              <a:t>	– Número de puerto</a:t>
            </a:r>
          </a:p>
          <a:p>
            <a:pPr marL="0" indent="0" algn="just">
              <a:buClr>
                <a:schemeClr val="dk1"/>
              </a:buClr>
              <a:buSzPts val="1100"/>
              <a:buNone/>
            </a:pPr>
            <a:r>
              <a:rPr lang="es-ES" sz="1400" dirty="0">
                <a:solidFill>
                  <a:schemeClr val="dk1"/>
                </a:solidFill>
              </a:rPr>
              <a:t>	– Ruta: /usuarios/1234/</a:t>
            </a:r>
          </a:p>
          <a:p>
            <a:pPr marL="0" indent="0" algn="just">
              <a:buClr>
                <a:schemeClr val="dk1"/>
              </a:buClr>
              <a:buSzPts val="1100"/>
              <a:buNone/>
            </a:pPr>
            <a:endParaRPr lang="es-ES" sz="1400" dirty="0">
              <a:solidFill>
                <a:schemeClr val="dk1"/>
              </a:solidFill>
            </a:endParaRPr>
          </a:p>
          <a:p>
            <a:pPr marL="285750" indent="-285750" algn="just">
              <a:buClr>
                <a:schemeClr val="dk1"/>
              </a:buClr>
              <a:buSzPts val="1100"/>
            </a:pPr>
            <a:r>
              <a:rPr lang="en-US" sz="1400" dirty="0" err="1">
                <a:solidFill>
                  <a:schemeClr val="dk1"/>
                </a:solidFill>
              </a:rPr>
              <a:t>Ejemplo</a:t>
            </a:r>
            <a:r>
              <a:rPr lang="en-US" sz="1400" dirty="0">
                <a:solidFill>
                  <a:schemeClr val="dk1"/>
                </a:solidFill>
              </a:rPr>
              <a:t>:</a:t>
            </a:r>
          </a:p>
          <a:p>
            <a:pPr marL="0" indent="0" algn="just">
              <a:buClr>
                <a:schemeClr val="dk1"/>
              </a:buClr>
              <a:buSzPts val="1100"/>
              <a:buNone/>
            </a:pPr>
            <a:endParaRPr lang="en-US" sz="1400" dirty="0">
              <a:solidFill>
                <a:schemeClr val="dk1"/>
              </a:solidFill>
            </a:endParaRPr>
          </a:p>
          <a:p>
            <a:pPr marL="0" indent="0" algn="just">
              <a:buClr>
                <a:schemeClr val="dk1"/>
              </a:buClr>
              <a:buSzPts val="1100"/>
              <a:buNone/>
            </a:pPr>
            <a:r>
              <a:rPr lang="en-US" sz="1400" dirty="0">
                <a:solidFill>
                  <a:schemeClr val="dk1"/>
                </a:solidFill>
              </a:rPr>
              <a:t>https://mmmm.cccc.gob.xx/endpoint/0.1/archivos/version</a:t>
            </a:r>
            <a:endParaRPr sz="1400" dirty="0">
              <a:solidFill>
                <a:schemeClr val="dk1"/>
              </a:solidFill>
            </a:endParaRPr>
          </a:p>
        </p:txBody>
      </p:sp>
    </p:spTree>
    <p:extLst>
      <p:ext uri="{BB962C8B-B14F-4D97-AF65-F5344CB8AC3E}">
        <p14:creationId xmlns:p14="http://schemas.microsoft.com/office/powerpoint/2010/main" val="1807623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REST: URI</a:t>
            </a:r>
            <a:endParaRPr dirty="0"/>
          </a:p>
        </p:txBody>
      </p:sp>
      <p:sp>
        <p:nvSpPr>
          <p:cNvPr id="4" name="Rectángulo 3">
            <a:extLst>
              <a:ext uri="{FF2B5EF4-FFF2-40B4-BE49-F238E27FC236}">
                <a16:creationId xmlns:a16="http://schemas.microsoft.com/office/drawing/2014/main" id="{729E5472-6B2C-FBAE-5B7F-146852C849A4}"/>
              </a:ext>
            </a:extLst>
          </p:cNvPr>
          <p:cNvSpPr/>
          <p:nvPr/>
        </p:nvSpPr>
        <p:spPr>
          <a:xfrm>
            <a:off x="872749" y="1288609"/>
            <a:ext cx="7557975" cy="673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914400">
              <a:spcAft>
                <a:spcPts val="500"/>
              </a:spcAft>
              <a:buClr>
                <a:srgbClr val="801F89"/>
              </a:buClr>
            </a:pPr>
            <a:r>
              <a:rPr lang="es-ES" sz="1800" b="1" dirty="0">
                <a:solidFill>
                  <a:srgbClr val="7030A0"/>
                </a:solidFill>
              </a:rPr>
              <a:t>Usa </a:t>
            </a:r>
            <a:r>
              <a:rPr lang="es-ES" sz="1800" b="1" dirty="0" err="1">
                <a:solidFill>
                  <a:srgbClr val="7030A0"/>
                </a:solidFill>
              </a:rPr>
              <a:t>URIs</a:t>
            </a:r>
            <a:r>
              <a:rPr lang="es-ES" sz="1800" b="1" dirty="0">
                <a:solidFill>
                  <a:srgbClr val="7030A0"/>
                </a:solidFill>
              </a:rPr>
              <a:t> para identificar recursos</a:t>
            </a:r>
          </a:p>
          <a:p>
            <a:pPr algn="ctr" defTabSz="914400">
              <a:buClr>
                <a:srgbClr val="801F89"/>
              </a:buClr>
            </a:pPr>
            <a:r>
              <a:rPr lang="es-ES" sz="1200" dirty="0">
                <a:solidFill>
                  <a:schemeClr val="tx1"/>
                </a:solidFill>
                <a:latin typeface="Neutra Text" panose="02000000000000000000" pitchFamily="50" charset="0"/>
              </a:rPr>
              <a:t>https://datos.ejemplo.com/v1/licitaciones/contratos?estado=finalizado</a:t>
            </a:r>
          </a:p>
          <a:p>
            <a:pPr defTabSz="914400">
              <a:buClr>
                <a:srgbClr val="801F89"/>
              </a:buClr>
            </a:pPr>
            <a:endParaRPr lang="es-ES" sz="1200" dirty="0">
              <a:solidFill>
                <a:schemeClr val="tx1"/>
              </a:solidFill>
              <a:latin typeface="Neutra Text" panose="02000000000000000000" pitchFamily="50" charset="0"/>
            </a:endParaRPr>
          </a:p>
        </p:txBody>
      </p:sp>
      <p:sp>
        <p:nvSpPr>
          <p:cNvPr id="5" name="Abrir llave 4">
            <a:extLst>
              <a:ext uri="{FF2B5EF4-FFF2-40B4-BE49-F238E27FC236}">
                <a16:creationId xmlns:a16="http://schemas.microsoft.com/office/drawing/2014/main" id="{87C1E230-1F24-64BC-E0BD-9E24EF129236}"/>
              </a:ext>
            </a:extLst>
          </p:cNvPr>
          <p:cNvSpPr/>
          <p:nvPr/>
        </p:nvSpPr>
        <p:spPr>
          <a:xfrm rot="16200000">
            <a:off x="2546984" y="1774910"/>
            <a:ext cx="121796" cy="395410"/>
          </a:xfrm>
          <a:prstGeom prst="leftBrace">
            <a:avLst/>
          </a:prstGeom>
          <a:no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6" name="Abrir llave 5">
            <a:extLst>
              <a:ext uri="{FF2B5EF4-FFF2-40B4-BE49-F238E27FC236}">
                <a16:creationId xmlns:a16="http://schemas.microsoft.com/office/drawing/2014/main" id="{B7902B17-C3D5-1FB0-5116-EB3585E914B3}"/>
              </a:ext>
            </a:extLst>
          </p:cNvPr>
          <p:cNvSpPr/>
          <p:nvPr/>
        </p:nvSpPr>
        <p:spPr>
          <a:xfrm rot="16200000">
            <a:off x="3399032" y="1323556"/>
            <a:ext cx="115070" cy="1301958"/>
          </a:xfrm>
          <a:prstGeom prst="leftBrace">
            <a:avLst/>
          </a:prstGeom>
          <a:no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7" name="Abrir llave 6">
            <a:extLst>
              <a:ext uri="{FF2B5EF4-FFF2-40B4-BE49-F238E27FC236}">
                <a16:creationId xmlns:a16="http://schemas.microsoft.com/office/drawing/2014/main" id="{97DDB653-1C8E-37DA-5848-48A54727A47C}"/>
              </a:ext>
            </a:extLst>
          </p:cNvPr>
          <p:cNvSpPr/>
          <p:nvPr/>
        </p:nvSpPr>
        <p:spPr>
          <a:xfrm rot="16200000">
            <a:off x="4135425" y="1887620"/>
            <a:ext cx="115072" cy="169987"/>
          </a:xfrm>
          <a:prstGeom prst="leftBrace">
            <a:avLst/>
          </a:prstGeom>
          <a:no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8" name="Abrir llave 7">
            <a:extLst>
              <a:ext uri="{FF2B5EF4-FFF2-40B4-BE49-F238E27FC236}">
                <a16:creationId xmlns:a16="http://schemas.microsoft.com/office/drawing/2014/main" id="{E3AB7255-C3B5-534D-DCFC-C3ED95DFFDE0}"/>
              </a:ext>
            </a:extLst>
          </p:cNvPr>
          <p:cNvSpPr/>
          <p:nvPr/>
        </p:nvSpPr>
        <p:spPr>
          <a:xfrm rot="16200000">
            <a:off x="6237354" y="1416756"/>
            <a:ext cx="107504" cy="1119280"/>
          </a:xfrm>
          <a:prstGeom prst="leftBrace">
            <a:avLst/>
          </a:prstGeom>
          <a:no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9" name="Abrir llave 8">
            <a:extLst>
              <a:ext uri="{FF2B5EF4-FFF2-40B4-BE49-F238E27FC236}">
                <a16:creationId xmlns:a16="http://schemas.microsoft.com/office/drawing/2014/main" id="{3960CFB8-2F34-6126-8928-E64894AA2174}"/>
              </a:ext>
            </a:extLst>
          </p:cNvPr>
          <p:cNvSpPr/>
          <p:nvPr/>
        </p:nvSpPr>
        <p:spPr>
          <a:xfrm rot="16200000">
            <a:off x="4615063" y="1576104"/>
            <a:ext cx="114894" cy="793198"/>
          </a:xfrm>
          <a:prstGeom prst="leftBrace">
            <a:avLst/>
          </a:prstGeom>
          <a:no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0" name="CuadroTexto 9">
            <a:extLst>
              <a:ext uri="{FF2B5EF4-FFF2-40B4-BE49-F238E27FC236}">
                <a16:creationId xmlns:a16="http://schemas.microsoft.com/office/drawing/2014/main" id="{E9BF6257-C094-0575-C007-65422CDBC1BA}"/>
              </a:ext>
            </a:extLst>
          </p:cNvPr>
          <p:cNvSpPr txBox="1"/>
          <p:nvPr/>
        </p:nvSpPr>
        <p:spPr>
          <a:xfrm>
            <a:off x="2321544" y="2008987"/>
            <a:ext cx="667562" cy="215444"/>
          </a:xfrm>
          <a:prstGeom prst="rect">
            <a:avLst/>
          </a:prstGeom>
          <a:noFill/>
        </p:spPr>
        <p:txBody>
          <a:bodyPr wrap="square" rtlCol="0">
            <a:spAutoFit/>
          </a:bodyPr>
          <a:lstStyle/>
          <a:p>
            <a:r>
              <a:rPr lang="es-ES" sz="800" dirty="0"/>
              <a:t>esquema</a:t>
            </a:r>
          </a:p>
        </p:txBody>
      </p:sp>
      <p:sp>
        <p:nvSpPr>
          <p:cNvPr id="11" name="CuadroTexto 10">
            <a:extLst>
              <a:ext uri="{FF2B5EF4-FFF2-40B4-BE49-F238E27FC236}">
                <a16:creationId xmlns:a16="http://schemas.microsoft.com/office/drawing/2014/main" id="{D02FD77C-CB0D-7F35-E5DB-B3AAEBA956D1}"/>
              </a:ext>
            </a:extLst>
          </p:cNvPr>
          <p:cNvSpPr txBox="1"/>
          <p:nvPr/>
        </p:nvSpPr>
        <p:spPr>
          <a:xfrm>
            <a:off x="3146405" y="2009760"/>
            <a:ext cx="620324" cy="215444"/>
          </a:xfrm>
          <a:prstGeom prst="rect">
            <a:avLst/>
          </a:prstGeom>
          <a:noFill/>
        </p:spPr>
        <p:txBody>
          <a:bodyPr wrap="square" rtlCol="0">
            <a:spAutoFit/>
          </a:bodyPr>
          <a:lstStyle>
            <a:defPPr marR="0" lvl="0" algn="l" rtl="0">
              <a:lnSpc>
                <a:spcPct val="100000"/>
              </a:lnSpc>
              <a:spcBef>
                <a:spcPts val="0"/>
              </a:spcBef>
              <a:spcAft>
                <a:spcPts val="0"/>
              </a:spcAft>
            </a:defPPr>
            <a:lvl1pPr>
              <a:defRPr sz="800"/>
            </a:lvl1pPr>
          </a:lstStyle>
          <a:p>
            <a:r>
              <a:rPr lang="es-ES" dirty="0"/>
              <a:t>autoridad</a:t>
            </a:r>
          </a:p>
        </p:txBody>
      </p:sp>
      <p:sp>
        <p:nvSpPr>
          <p:cNvPr id="12" name="CuadroTexto 11">
            <a:extLst>
              <a:ext uri="{FF2B5EF4-FFF2-40B4-BE49-F238E27FC236}">
                <a16:creationId xmlns:a16="http://schemas.microsoft.com/office/drawing/2014/main" id="{87177BC5-4FCD-912B-3B3F-076DEB1E2440}"/>
              </a:ext>
            </a:extLst>
          </p:cNvPr>
          <p:cNvSpPr txBox="1"/>
          <p:nvPr/>
        </p:nvSpPr>
        <p:spPr>
          <a:xfrm>
            <a:off x="3926849" y="2012518"/>
            <a:ext cx="532224" cy="215444"/>
          </a:xfrm>
          <a:prstGeom prst="rect">
            <a:avLst/>
          </a:prstGeom>
          <a:noFill/>
        </p:spPr>
        <p:txBody>
          <a:bodyPr wrap="square" rtlCol="0">
            <a:spAutoFit/>
          </a:bodyPr>
          <a:lstStyle>
            <a:defPPr marR="0" lvl="0" algn="l" rtl="0">
              <a:lnSpc>
                <a:spcPct val="100000"/>
              </a:lnSpc>
              <a:spcBef>
                <a:spcPts val="0"/>
              </a:spcBef>
              <a:spcAft>
                <a:spcPts val="0"/>
              </a:spcAft>
              <a:defRPr/>
            </a:defPPr>
            <a:lvl1pPr>
              <a:defRPr sz="800"/>
            </a:lvl1pPr>
          </a:lstStyle>
          <a:p>
            <a:r>
              <a:rPr lang="es-ES" dirty="0"/>
              <a:t>versión</a:t>
            </a:r>
          </a:p>
        </p:txBody>
      </p:sp>
      <p:sp>
        <p:nvSpPr>
          <p:cNvPr id="13" name="CuadroTexto 12">
            <a:extLst>
              <a:ext uri="{FF2B5EF4-FFF2-40B4-BE49-F238E27FC236}">
                <a16:creationId xmlns:a16="http://schemas.microsoft.com/office/drawing/2014/main" id="{796D57F3-F64D-FA4D-3468-D0B7A39336C5}"/>
              </a:ext>
            </a:extLst>
          </p:cNvPr>
          <p:cNvSpPr txBox="1"/>
          <p:nvPr/>
        </p:nvSpPr>
        <p:spPr>
          <a:xfrm>
            <a:off x="4392046" y="2021334"/>
            <a:ext cx="714102" cy="215444"/>
          </a:xfrm>
          <a:prstGeom prst="rect">
            <a:avLst/>
          </a:prstGeom>
          <a:noFill/>
        </p:spPr>
        <p:txBody>
          <a:bodyPr wrap="square" rtlCol="0">
            <a:spAutoFit/>
          </a:bodyPr>
          <a:lstStyle/>
          <a:p>
            <a:r>
              <a:rPr lang="es-ES" sz="800" dirty="0"/>
              <a:t>contexto</a:t>
            </a:r>
          </a:p>
        </p:txBody>
      </p:sp>
      <p:sp>
        <p:nvSpPr>
          <p:cNvPr id="14" name="Abrir llave 13">
            <a:extLst>
              <a:ext uri="{FF2B5EF4-FFF2-40B4-BE49-F238E27FC236}">
                <a16:creationId xmlns:a16="http://schemas.microsoft.com/office/drawing/2014/main" id="{F5908673-6B3F-A3B8-4F08-9F7DFC75FC84}"/>
              </a:ext>
            </a:extLst>
          </p:cNvPr>
          <p:cNvSpPr/>
          <p:nvPr/>
        </p:nvSpPr>
        <p:spPr>
          <a:xfrm rot="16200000">
            <a:off x="5348207" y="1638072"/>
            <a:ext cx="104162" cy="662357"/>
          </a:xfrm>
          <a:prstGeom prst="leftBrace">
            <a:avLst/>
          </a:prstGeom>
          <a:no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5" name="CuadroTexto 14">
            <a:extLst>
              <a:ext uri="{FF2B5EF4-FFF2-40B4-BE49-F238E27FC236}">
                <a16:creationId xmlns:a16="http://schemas.microsoft.com/office/drawing/2014/main" id="{A580AEA2-2B98-EA52-41F4-EF8E7CE8B7EB}"/>
              </a:ext>
            </a:extLst>
          </p:cNvPr>
          <p:cNvSpPr txBox="1"/>
          <p:nvPr/>
        </p:nvSpPr>
        <p:spPr>
          <a:xfrm>
            <a:off x="5158662" y="2021332"/>
            <a:ext cx="533400" cy="215444"/>
          </a:xfrm>
          <a:prstGeom prst="rect">
            <a:avLst/>
          </a:prstGeom>
          <a:noFill/>
        </p:spPr>
        <p:txBody>
          <a:bodyPr wrap="square" rtlCol="0">
            <a:spAutoFit/>
          </a:bodyPr>
          <a:lstStyle/>
          <a:p>
            <a:r>
              <a:rPr lang="es-ES" sz="800" dirty="0"/>
              <a:t>recurso</a:t>
            </a:r>
          </a:p>
        </p:txBody>
      </p:sp>
      <p:sp>
        <p:nvSpPr>
          <p:cNvPr id="16" name="CuadroTexto 15">
            <a:extLst>
              <a:ext uri="{FF2B5EF4-FFF2-40B4-BE49-F238E27FC236}">
                <a16:creationId xmlns:a16="http://schemas.microsoft.com/office/drawing/2014/main" id="{54C9103C-EFC1-047D-F6FD-22AA2F2A7A90}"/>
              </a:ext>
            </a:extLst>
          </p:cNvPr>
          <p:cNvSpPr txBox="1"/>
          <p:nvPr/>
        </p:nvSpPr>
        <p:spPr>
          <a:xfrm>
            <a:off x="5988104" y="2030148"/>
            <a:ext cx="606003" cy="215444"/>
          </a:xfrm>
          <a:prstGeom prst="rect">
            <a:avLst/>
          </a:prstGeom>
          <a:noFill/>
        </p:spPr>
        <p:txBody>
          <a:bodyPr wrap="square" rtlCol="0">
            <a:spAutoFit/>
          </a:bodyPr>
          <a:lstStyle/>
          <a:p>
            <a:r>
              <a:rPr lang="es-ES" sz="800" dirty="0"/>
              <a:t>consulta</a:t>
            </a:r>
          </a:p>
        </p:txBody>
      </p:sp>
      <p:pic>
        <p:nvPicPr>
          <p:cNvPr id="17" name="Picture 2" descr="O que são URL, URI e URN 🤔 - Base de Conhecimento - Fórum da Casa do  Desenvolvedor">
            <a:extLst>
              <a:ext uri="{FF2B5EF4-FFF2-40B4-BE49-F238E27FC236}">
                <a16:creationId xmlns:a16="http://schemas.microsoft.com/office/drawing/2014/main" id="{47FEBD8F-2FC1-8807-A8A0-A3F00147C6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114" y="2483826"/>
            <a:ext cx="4253621" cy="145838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descr="En qué se diferencia la URL, URI y URN | Odisea Geek">
            <a:extLst>
              <a:ext uri="{FF2B5EF4-FFF2-40B4-BE49-F238E27FC236}">
                <a16:creationId xmlns:a16="http://schemas.microsoft.com/office/drawing/2014/main" id="{36E9578A-F0BA-8110-C2C3-B5DF863B46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5911" y="3449072"/>
            <a:ext cx="4188593" cy="14980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97265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REST: </a:t>
            </a:r>
            <a:r>
              <a:rPr lang="en-US" dirty="0" err="1"/>
              <a:t>Recurso</a:t>
            </a:r>
            <a:endParaRPr dirty="0"/>
          </a:p>
        </p:txBody>
      </p:sp>
      <p:sp>
        <p:nvSpPr>
          <p:cNvPr id="192" name="Google Shape;192;p31"/>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285750" indent="-285750" algn="just">
              <a:buClr>
                <a:schemeClr val="dk1"/>
              </a:buClr>
              <a:buSzPts val="1100"/>
            </a:pPr>
            <a:r>
              <a:rPr lang="es-ES" sz="1400" dirty="0">
                <a:solidFill>
                  <a:schemeClr val="dk1"/>
                </a:solidFill>
              </a:rPr>
              <a:t>Cualquier cosa que puede ser identificado por una URI: documento, imagen, servicio.</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Se analizan los casos de uso para encontrar nombres de dominio que puedan realizar las operaciones de “crear”, “leer”, “actualizar” o “borrar”</a:t>
            </a:r>
          </a:p>
          <a:p>
            <a:pPr marL="0" indent="0" algn="just">
              <a:buClr>
                <a:schemeClr val="dk1"/>
              </a:buClr>
              <a:buSzPts val="1100"/>
              <a:buNone/>
            </a:pPr>
            <a:r>
              <a:rPr lang="es-ES" sz="1400" dirty="0">
                <a:solidFill>
                  <a:schemeClr val="dk1"/>
                </a:solidFill>
              </a:rPr>
              <a:t>	</a:t>
            </a:r>
          </a:p>
          <a:p>
            <a:pPr marL="0" indent="0" algn="just">
              <a:buClr>
                <a:schemeClr val="dk1"/>
              </a:buClr>
              <a:buSzPts val="1100"/>
              <a:buNone/>
            </a:pPr>
            <a:r>
              <a:rPr lang="es-ES" sz="1400" dirty="0">
                <a:solidFill>
                  <a:schemeClr val="dk1"/>
                </a:solidFill>
              </a:rPr>
              <a:t>	– /clientes</a:t>
            </a:r>
          </a:p>
          <a:p>
            <a:pPr marL="0" indent="0" algn="just">
              <a:buClr>
                <a:schemeClr val="dk1"/>
              </a:buClr>
              <a:buSzPts val="1100"/>
              <a:buNone/>
            </a:pPr>
            <a:r>
              <a:rPr lang="es-ES" sz="1400" dirty="0">
                <a:solidFill>
                  <a:schemeClr val="dk1"/>
                </a:solidFill>
              </a:rPr>
              <a:t>	– /clientes/Id</a:t>
            </a:r>
          </a:p>
          <a:p>
            <a:pPr marL="0" indent="0" algn="just">
              <a:buClr>
                <a:schemeClr val="dk1"/>
              </a:buClr>
              <a:buSzPts val="1100"/>
              <a:buNone/>
            </a:pPr>
            <a:r>
              <a:rPr lang="es-ES" sz="1400" dirty="0">
                <a:solidFill>
                  <a:schemeClr val="dk1"/>
                </a:solidFill>
              </a:rPr>
              <a:t>	– /archivos/</a:t>
            </a:r>
            <a:r>
              <a:rPr lang="es-ES" sz="1400" dirty="0" err="1">
                <a:solidFill>
                  <a:schemeClr val="dk1"/>
                </a:solidFill>
              </a:rPr>
              <a:t>pdfs</a:t>
            </a:r>
            <a:endParaRPr sz="1400" dirty="0">
              <a:solidFill>
                <a:schemeClr val="dk1"/>
              </a:solidFill>
            </a:endParaRPr>
          </a:p>
        </p:txBody>
      </p:sp>
    </p:spTree>
    <p:extLst>
      <p:ext uri="{BB962C8B-B14F-4D97-AF65-F5344CB8AC3E}">
        <p14:creationId xmlns:p14="http://schemas.microsoft.com/office/powerpoint/2010/main" val="13680087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REST</a:t>
            </a:r>
            <a:endParaRPr dirty="0"/>
          </a:p>
        </p:txBody>
      </p:sp>
      <p:sp>
        <p:nvSpPr>
          <p:cNvPr id="192" name="Google Shape;192;p31"/>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285750" indent="-285750" algn="just">
              <a:buClr>
                <a:schemeClr val="dk1"/>
              </a:buClr>
              <a:buSzPts val="1100"/>
            </a:pPr>
            <a:r>
              <a:rPr lang="es-ES" sz="1400" dirty="0">
                <a:solidFill>
                  <a:schemeClr val="dk1"/>
                </a:solidFill>
              </a:rPr>
              <a:t>Un recurso como una URI</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Un conjunto de métodos bien definidos para acceder a los recursos (GET, POST, etc.)</a:t>
            </a:r>
          </a:p>
          <a:p>
            <a:pPr marL="0" indent="0" algn="just">
              <a:buClr>
                <a:schemeClr val="dk1"/>
              </a:buClr>
              <a:buSzPts val="1100"/>
              <a:buNone/>
            </a:pPr>
            <a:endParaRPr lang="es-ES" sz="1400" dirty="0">
              <a:solidFill>
                <a:schemeClr val="dk1"/>
              </a:solidFill>
            </a:endParaRPr>
          </a:p>
          <a:p>
            <a:pPr marL="285750" indent="-285750" algn="just">
              <a:buClr>
                <a:schemeClr val="dk1"/>
              </a:buClr>
              <a:buSzPts val="1100"/>
            </a:pPr>
            <a:r>
              <a:rPr lang="es-ES" sz="1400" dirty="0">
                <a:solidFill>
                  <a:schemeClr val="dk1"/>
                </a:solidFill>
              </a:rPr>
              <a:t>Múltiples formatos de representación de un recurso</a:t>
            </a:r>
            <a:endParaRPr sz="1400" dirty="0">
              <a:solidFill>
                <a:schemeClr val="dk1"/>
              </a:solidFill>
            </a:endParaRPr>
          </a:p>
        </p:txBody>
      </p:sp>
      <p:pic>
        <p:nvPicPr>
          <p:cNvPr id="3" name="Imagen 2">
            <a:extLst>
              <a:ext uri="{FF2B5EF4-FFF2-40B4-BE49-F238E27FC236}">
                <a16:creationId xmlns:a16="http://schemas.microsoft.com/office/drawing/2014/main" id="{AD6889C5-3EDF-3EEC-A290-C872F0C61B94}"/>
              </a:ext>
            </a:extLst>
          </p:cNvPr>
          <p:cNvPicPr>
            <a:picLocks noChangeAspect="1"/>
          </p:cNvPicPr>
          <p:nvPr/>
        </p:nvPicPr>
        <p:blipFill>
          <a:blip r:embed="rId3"/>
          <a:stretch>
            <a:fillRect/>
          </a:stretch>
        </p:blipFill>
        <p:spPr>
          <a:xfrm>
            <a:off x="415925" y="3032806"/>
            <a:ext cx="4243161" cy="1346068"/>
          </a:xfrm>
          <a:prstGeom prst="rect">
            <a:avLst/>
          </a:prstGeom>
        </p:spPr>
      </p:pic>
      <p:pic>
        <p:nvPicPr>
          <p:cNvPr id="5" name="Imagen 4">
            <a:extLst>
              <a:ext uri="{FF2B5EF4-FFF2-40B4-BE49-F238E27FC236}">
                <a16:creationId xmlns:a16="http://schemas.microsoft.com/office/drawing/2014/main" id="{BB80B30A-3DA1-ED12-923B-0D1DEA156605}"/>
              </a:ext>
            </a:extLst>
          </p:cNvPr>
          <p:cNvPicPr>
            <a:picLocks noChangeAspect="1"/>
          </p:cNvPicPr>
          <p:nvPr/>
        </p:nvPicPr>
        <p:blipFill>
          <a:blip r:embed="rId4"/>
          <a:stretch>
            <a:fillRect/>
          </a:stretch>
        </p:blipFill>
        <p:spPr>
          <a:xfrm>
            <a:off x="5323341" y="2942091"/>
            <a:ext cx="2920774" cy="485978"/>
          </a:xfrm>
          <a:prstGeom prst="rect">
            <a:avLst/>
          </a:prstGeom>
        </p:spPr>
      </p:pic>
      <p:pic>
        <p:nvPicPr>
          <p:cNvPr id="7" name="Imagen 6">
            <a:extLst>
              <a:ext uri="{FF2B5EF4-FFF2-40B4-BE49-F238E27FC236}">
                <a16:creationId xmlns:a16="http://schemas.microsoft.com/office/drawing/2014/main" id="{F3D3DA61-E1A5-F518-796E-292E83CC7848}"/>
              </a:ext>
            </a:extLst>
          </p:cNvPr>
          <p:cNvPicPr>
            <a:picLocks noChangeAspect="1"/>
          </p:cNvPicPr>
          <p:nvPr/>
        </p:nvPicPr>
        <p:blipFill>
          <a:blip r:embed="rId5"/>
          <a:stretch>
            <a:fillRect/>
          </a:stretch>
        </p:blipFill>
        <p:spPr>
          <a:xfrm>
            <a:off x="5768635" y="3601710"/>
            <a:ext cx="2030186" cy="1025045"/>
          </a:xfrm>
          <a:prstGeom prst="rect">
            <a:avLst/>
          </a:prstGeom>
        </p:spPr>
      </p:pic>
    </p:spTree>
    <p:extLst>
      <p:ext uri="{BB962C8B-B14F-4D97-AF65-F5344CB8AC3E}">
        <p14:creationId xmlns:p14="http://schemas.microsoft.com/office/powerpoint/2010/main" val="8454855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SOAP vs REST</a:t>
            </a:r>
            <a:endParaRPr dirty="0"/>
          </a:p>
        </p:txBody>
      </p:sp>
      <p:pic>
        <p:nvPicPr>
          <p:cNvPr id="3" name="Imagen 2">
            <a:extLst>
              <a:ext uri="{FF2B5EF4-FFF2-40B4-BE49-F238E27FC236}">
                <a16:creationId xmlns:a16="http://schemas.microsoft.com/office/drawing/2014/main" id="{C56D575A-68AE-1A45-6C72-F330B3A9FC3F}"/>
              </a:ext>
            </a:extLst>
          </p:cNvPr>
          <p:cNvPicPr>
            <a:picLocks noChangeAspect="1"/>
          </p:cNvPicPr>
          <p:nvPr/>
        </p:nvPicPr>
        <p:blipFill>
          <a:blip r:embed="rId3"/>
          <a:stretch>
            <a:fillRect/>
          </a:stretch>
        </p:blipFill>
        <p:spPr>
          <a:xfrm>
            <a:off x="1483607" y="1258207"/>
            <a:ext cx="6176736" cy="3015871"/>
          </a:xfrm>
          <a:prstGeom prst="rect">
            <a:avLst/>
          </a:prstGeom>
        </p:spPr>
      </p:pic>
    </p:spTree>
    <p:extLst>
      <p:ext uri="{BB962C8B-B14F-4D97-AF65-F5344CB8AC3E}">
        <p14:creationId xmlns:p14="http://schemas.microsoft.com/office/powerpoint/2010/main" val="8444268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JSON</a:t>
            </a:r>
            <a:endParaRPr dirty="0"/>
          </a:p>
        </p:txBody>
      </p:sp>
      <p:sp>
        <p:nvSpPr>
          <p:cNvPr id="2" name="Google Shape;192;p31">
            <a:extLst>
              <a:ext uri="{FF2B5EF4-FFF2-40B4-BE49-F238E27FC236}">
                <a16:creationId xmlns:a16="http://schemas.microsoft.com/office/drawing/2014/main" id="{A3055E23-E70D-C80D-B4C5-619A4A16D341}"/>
              </a:ext>
            </a:extLst>
          </p:cNvPr>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285750" indent="-285750" algn="just">
              <a:buClr>
                <a:schemeClr val="dk1"/>
              </a:buClr>
              <a:buSzPts val="1100"/>
            </a:pPr>
            <a:r>
              <a:rPr lang="es-ES" sz="1400" dirty="0">
                <a:solidFill>
                  <a:schemeClr val="dk1"/>
                </a:solidFill>
              </a:rPr>
              <a:t>Formato ligero para el intercambio de datos</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Basado en un subconjunto del lenguaje de programación JavaScript</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http://json.org</a:t>
            </a:r>
            <a:endParaRPr sz="1400" dirty="0">
              <a:solidFill>
                <a:schemeClr val="dk1"/>
              </a:solidFill>
            </a:endParaRPr>
          </a:p>
        </p:txBody>
      </p:sp>
    </p:spTree>
    <p:extLst>
      <p:ext uri="{BB962C8B-B14F-4D97-AF65-F5344CB8AC3E}">
        <p14:creationId xmlns:p14="http://schemas.microsoft.com/office/powerpoint/2010/main" val="15172551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JSON</a:t>
            </a:r>
            <a:endParaRPr dirty="0"/>
          </a:p>
        </p:txBody>
      </p:sp>
      <p:pic>
        <p:nvPicPr>
          <p:cNvPr id="6" name="Imagen 5">
            <a:extLst>
              <a:ext uri="{FF2B5EF4-FFF2-40B4-BE49-F238E27FC236}">
                <a16:creationId xmlns:a16="http://schemas.microsoft.com/office/drawing/2014/main" id="{61B02561-8F4D-C82F-3AFA-CE8B92708626}"/>
              </a:ext>
            </a:extLst>
          </p:cNvPr>
          <p:cNvPicPr>
            <a:picLocks noChangeAspect="1"/>
          </p:cNvPicPr>
          <p:nvPr/>
        </p:nvPicPr>
        <p:blipFill>
          <a:blip r:embed="rId3"/>
          <a:stretch>
            <a:fillRect/>
          </a:stretch>
        </p:blipFill>
        <p:spPr>
          <a:xfrm>
            <a:off x="1302905" y="956748"/>
            <a:ext cx="6538139" cy="4072512"/>
          </a:xfrm>
          <a:prstGeom prst="rect">
            <a:avLst/>
          </a:prstGeom>
        </p:spPr>
      </p:pic>
    </p:spTree>
    <p:extLst>
      <p:ext uri="{BB962C8B-B14F-4D97-AF65-F5344CB8AC3E}">
        <p14:creationId xmlns:p14="http://schemas.microsoft.com/office/powerpoint/2010/main" val="262359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JSON</a:t>
            </a:r>
            <a:endParaRPr dirty="0"/>
          </a:p>
        </p:txBody>
      </p:sp>
      <p:pic>
        <p:nvPicPr>
          <p:cNvPr id="3" name="Imagen 2">
            <a:extLst>
              <a:ext uri="{FF2B5EF4-FFF2-40B4-BE49-F238E27FC236}">
                <a16:creationId xmlns:a16="http://schemas.microsoft.com/office/drawing/2014/main" id="{A23D8081-2250-9622-E9A2-2EBB6E9D1170}"/>
              </a:ext>
            </a:extLst>
          </p:cNvPr>
          <p:cNvPicPr>
            <a:picLocks noChangeAspect="1"/>
          </p:cNvPicPr>
          <p:nvPr/>
        </p:nvPicPr>
        <p:blipFill>
          <a:blip r:embed="rId3"/>
          <a:stretch>
            <a:fillRect/>
          </a:stretch>
        </p:blipFill>
        <p:spPr>
          <a:xfrm>
            <a:off x="2250168" y="1719490"/>
            <a:ext cx="4643664" cy="2010525"/>
          </a:xfrm>
          <a:prstGeom prst="rect">
            <a:avLst/>
          </a:prstGeom>
        </p:spPr>
      </p:pic>
    </p:spTree>
    <p:extLst>
      <p:ext uri="{BB962C8B-B14F-4D97-AF65-F5344CB8AC3E}">
        <p14:creationId xmlns:p14="http://schemas.microsoft.com/office/powerpoint/2010/main" val="11160288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Uso de los servicios web</a:t>
            </a:r>
            <a:endParaRPr dirty="0"/>
          </a:p>
        </p:txBody>
      </p:sp>
      <p:sp>
        <p:nvSpPr>
          <p:cNvPr id="2" name="Google Shape;192;p31">
            <a:extLst>
              <a:ext uri="{FF2B5EF4-FFF2-40B4-BE49-F238E27FC236}">
                <a16:creationId xmlns:a16="http://schemas.microsoft.com/office/drawing/2014/main" id="{B45C6456-9794-E164-C651-C8E05A83979D}"/>
              </a:ext>
            </a:extLst>
          </p:cNvPr>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285750" indent="-285750" algn="just">
              <a:buClr>
                <a:schemeClr val="dk1"/>
              </a:buClr>
              <a:buSzPts val="1100"/>
            </a:pPr>
            <a:r>
              <a:rPr lang="es-ES" sz="1400" dirty="0">
                <a:solidFill>
                  <a:schemeClr val="dk1"/>
                </a:solidFill>
              </a:rPr>
              <a:t>Existen muchos servicios web cuya API se puede utilizar (generalmente, previa autenticación).</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Un ejemplo que no necesita autenticación: </a:t>
            </a:r>
            <a:r>
              <a:rPr lang="es-ES" sz="1400" dirty="0" err="1">
                <a:solidFill>
                  <a:schemeClr val="dk1"/>
                </a:solidFill>
              </a:rPr>
              <a:t>The</a:t>
            </a:r>
            <a:r>
              <a:rPr lang="es-ES" sz="1400" dirty="0">
                <a:solidFill>
                  <a:schemeClr val="dk1"/>
                </a:solidFill>
              </a:rPr>
              <a:t> Cat API</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CO" sz="1800" b="0" i="0" u="none" strike="noStrike" baseline="0" dirty="0">
                <a:latin typeface="DejaVuSerif"/>
                <a:hlinkClick r:id="rId3"/>
              </a:rPr>
              <a:t>http://thecatapi.com/api/images/get?format=src&amp;type=gif</a:t>
            </a:r>
            <a:r>
              <a:rPr lang="es-ES" sz="1400" b="0" i="0" u="none" strike="noStrike" baseline="0" dirty="0">
                <a:solidFill>
                  <a:schemeClr val="dk1"/>
                </a:solidFill>
                <a:latin typeface="DejaVuSerif"/>
              </a:rPr>
              <a:t> </a:t>
            </a:r>
            <a:endParaRPr sz="1400" dirty="0">
              <a:solidFill>
                <a:schemeClr val="dk1"/>
              </a:solidFill>
            </a:endParaRPr>
          </a:p>
        </p:txBody>
      </p:sp>
    </p:spTree>
    <p:extLst>
      <p:ext uri="{BB962C8B-B14F-4D97-AF65-F5344CB8AC3E}">
        <p14:creationId xmlns:p14="http://schemas.microsoft.com/office/powerpoint/2010/main" val="26564170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Uso de los servicios web</a:t>
            </a:r>
            <a:endParaRPr dirty="0"/>
          </a:p>
        </p:txBody>
      </p:sp>
      <p:pic>
        <p:nvPicPr>
          <p:cNvPr id="6" name="Imagen 5">
            <a:extLst>
              <a:ext uri="{FF2B5EF4-FFF2-40B4-BE49-F238E27FC236}">
                <a16:creationId xmlns:a16="http://schemas.microsoft.com/office/drawing/2014/main" id="{AAA96BBE-89BD-C6B1-9943-F543B2608B80}"/>
              </a:ext>
            </a:extLst>
          </p:cNvPr>
          <p:cNvPicPr>
            <a:picLocks noChangeAspect="1"/>
          </p:cNvPicPr>
          <p:nvPr/>
        </p:nvPicPr>
        <p:blipFill>
          <a:blip r:embed="rId3"/>
          <a:stretch>
            <a:fillRect/>
          </a:stretch>
        </p:blipFill>
        <p:spPr>
          <a:xfrm>
            <a:off x="3014878" y="1088571"/>
            <a:ext cx="3114193" cy="3831771"/>
          </a:xfrm>
          <a:prstGeom prst="rect">
            <a:avLst/>
          </a:prstGeom>
        </p:spPr>
      </p:pic>
    </p:spTree>
    <p:extLst>
      <p:ext uri="{BB962C8B-B14F-4D97-AF65-F5344CB8AC3E}">
        <p14:creationId xmlns:p14="http://schemas.microsoft.com/office/powerpoint/2010/main" val="18462261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Autenticación</a:t>
            </a:r>
            <a:endParaRPr dirty="0"/>
          </a:p>
        </p:txBody>
      </p:sp>
      <p:sp>
        <p:nvSpPr>
          <p:cNvPr id="2" name="Google Shape;192;p31">
            <a:extLst>
              <a:ext uri="{FF2B5EF4-FFF2-40B4-BE49-F238E27FC236}">
                <a16:creationId xmlns:a16="http://schemas.microsoft.com/office/drawing/2014/main" id="{79F59601-B55F-0307-DD2C-9B220E6D5A0C}"/>
              </a:ext>
            </a:extLst>
          </p:cNvPr>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285750" indent="-285750" algn="just">
              <a:buClr>
                <a:schemeClr val="dk1"/>
              </a:buClr>
              <a:buSzPts val="1100"/>
            </a:pPr>
            <a:r>
              <a:rPr lang="es-ES" sz="1400" dirty="0">
                <a:solidFill>
                  <a:schemeClr val="dk1"/>
                </a:solidFill>
              </a:rPr>
              <a:t>Actualmente, casi todos los servicios web requieren algún tipo de autenticación previa</a:t>
            </a:r>
          </a:p>
          <a:p>
            <a:pPr marL="742950" lvl="1" indent="-285750" algn="just">
              <a:buClr>
                <a:schemeClr val="dk1"/>
              </a:buClr>
              <a:buSzPts val="1100"/>
            </a:pPr>
            <a:r>
              <a:rPr lang="es-ES" sz="1400" dirty="0">
                <a:solidFill>
                  <a:schemeClr val="dk1"/>
                </a:solidFill>
              </a:rPr>
              <a:t>Generalmente a través de OAuth (Open </a:t>
            </a:r>
            <a:r>
              <a:rPr lang="es-ES" sz="1400" dirty="0" err="1">
                <a:solidFill>
                  <a:schemeClr val="dk1"/>
                </a:solidFill>
              </a:rPr>
              <a:t>Authorization</a:t>
            </a:r>
            <a:r>
              <a:rPr lang="es-ES" sz="1400" dirty="0">
                <a:solidFill>
                  <a:schemeClr val="dk1"/>
                </a:solidFill>
              </a:rPr>
              <a:t>), un protocolo de autenticación de </a:t>
            </a:r>
            <a:r>
              <a:rPr lang="es-ES" sz="1400" dirty="0" err="1">
                <a:solidFill>
                  <a:schemeClr val="dk1"/>
                </a:solidFill>
              </a:rPr>
              <a:t>APIs</a:t>
            </a:r>
            <a:r>
              <a:rPr lang="es-ES" sz="1400" dirty="0">
                <a:solidFill>
                  <a:schemeClr val="dk1"/>
                </a:solidFill>
              </a:rPr>
              <a:t>.</a:t>
            </a:r>
          </a:p>
          <a:p>
            <a:pPr marL="1200150" lvl="2" indent="-285750" algn="just">
              <a:buClr>
                <a:schemeClr val="dk1"/>
              </a:buClr>
              <a:buSzPts val="1100"/>
            </a:pPr>
            <a:r>
              <a:rPr lang="es-ES" dirty="0">
                <a:solidFill>
                  <a:schemeClr val="dk1"/>
                </a:solidFill>
              </a:rPr>
              <a:t>O mediante algún sistema más sencillo de registro</a:t>
            </a:r>
          </a:p>
          <a:p>
            <a:pPr marL="742950" lvl="1" indent="-285750" algn="just">
              <a:buClr>
                <a:schemeClr val="dk1"/>
              </a:buClr>
              <a:buSzPts val="1100"/>
            </a:pPr>
            <a:r>
              <a:rPr lang="es-ES" sz="1400" dirty="0">
                <a:solidFill>
                  <a:schemeClr val="dk1"/>
                </a:solidFill>
              </a:rPr>
              <a:t>Complica las invocaciones a la API (sobre todo de manera ‘manual’)</a:t>
            </a:r>
          </a:p>
          <a:p>
            <a:pPr marL="742950" lvl="1" indent="-285750" algn="just">
              <a:buClr>
                <a:schemeClr val="dk1"/>
              </a:buClr>
              <a:buSzPts val="1100"/>
            </a:pPr>
            <a:r>
              <a:rPr lang="es-ES" sz="1400" dirty="0">
                <a:solidFill>
                  <a:schemeClr val="dk1"/>
                </a:solidFill>
              </a:rPr>
              <a:t>Mejora la seguridad de los servidores de servicios web</a:t>
            </a:r>
            <a:endParaRPr sz="1400" dirty="0">
              <a:solidFill>
                <a:schemeClr val="dk1"/>
              </a:solidFill>
            </a:endParaRPr>
          </a:p>
        </p:txBody>
      </p:sp>
    </p:spTree>
    <p:extLst>
      <p:ext uri="{BB962C8B-B14F-4D97-AF65-F5344CB8AC3E}">
        <p14:creationId xmlns:p14="http://schemas.microsoft.com/office/powerpoint/2010/main" val="5503464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Navegadores</a:t>
            </a:r>
            <a:endParaRPr dirty="0"/>
          </a:p>
        </p:txBody>
      </p:sp>
      <p:sp>
        <p:nvSpPr>
          <p:cNvPr id="2" name="Google Shape;192;p31">
            <a:extLst>
              <a:ext uri="{FF2B5EF4-FFF2-40B4-BE49-F238E27FC236}">
                <a16:creationId xmlns:a16="http://schemas.microsoft.com/office/drawing/2014/main" id="{79F59601-B55F-0307-DD2C-9B220E6D5A0C}"/>
              </a:ext>
            </a:extLst>
          </p:cNvPr>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285750" indent="-285750" algn="just">
              <a:buClr>
                <a:schemeClr val="dk1"/>
              </a:buClr>
              <a:buSzPts val="1100"/>
            </a:pPr>
            <a:r>
              <a:rPr lang="es-ES" sz="1400" dirty="0">
                <a:solidFill>
                  <a:schemeClr val="dk1"/>
                </a:solidFill>
              </a:rPr>
              <a:t>Antes hemos invocado servicios directamente desde un navegador web</a:t>
            </a:r>
          </a:p>
          <a:p>
            <a:pPr marL="742950" lvl="1" indent="-285750" algn="just">
              <a:buClr>
                <a:schemeClr val="dk1"/>
              </a:buClr>
              <a:buSzPts val="1100"/>
            </a:pPr>
            <a:r>
              <a:rPr lang="es-ES" sz="1400" dirty="0">
                <a:solidFill>
                  <a:schemeClr val="dk1"/>
                </a:solidFill>
              </a:rPr>
              <a:t>Al ser </a:t>
            </a:r>
            <a:r>
              <a:rPr lang="es-ES" sz="1400" dirty="0" err="1">
                <a:solidFill>
                  <a:schemeClr val="dk1"/>
                </a:solidFill>
              </a:rPr>
              <a:t>URLs</a:t>
            </a:r>
            <a:r>
              <a:rPr lang="es-ES" sz="1400" dirty="0">
                <a:solidFill>
                  <a:schemeClr val="dk1"/>
                </a:solidFill>
              </a:rPr>
              <a:t>, es posible siempre que sean servicios GET</a:t>
            </a:r>
          </a:p>
          <a:p>
            <a:pPr marL="0" indent="0" algn="just">
              <a:buClr>
                <a:schemeClr val="dk1"/>
              </a:buClr>
              <a:buSzPts val="1100"/>
              <a:buNone/>
            </a:pPr>
            <a:endParaRPr lang="es-ES" sz="1400" dirty="0">
              <a:solidFill>
                <a:schemeClr val="dk1"/>
              </a:solidFill>
            </a:endParaRPr>
          </a:p>
          <a:p>
            <a:pPr marL="285750" indent="-285750" algn="just">
              <a:buClr>
                <a:schemeClr val="dk1"/>
              </a:buClr>
              <a:buSzPts val="1100"/>
            </a:pPr>
            <a:r>
              <a:rPr lang="es-ES" sz="1400" dirty="0">
                <a:solidFill>
                  <a:schemeClr val="dk1"/>
                </a:solidFill>
              </a:rPr>
              <a:t>Ejemplos: </a:t>
            </a:r>
            <a:r>
              <a:rPr lang="es-ES" sz="1400" dirty="0" err="1">
                <a:solidFill>
                  <a:schemeClr val="dk1"/>
                </a:solidFill>
              </a:rPr>
              <a:t>The</a:t>
            </a:r>
            <a:r>
              <a:rPr lang="es-ES" sz="1400" dirty="0">
                <a:solidFill>
                  <a:schemeClr val="dk1"/>
                </a:solidFill>
              </a:rPr>
              <a:t> Cat API</a:t>
            </a:r>
          </a:p>
          <a:p>
            <a:pPr marL="742950" lvl="1" indent="-285750" algn="just">
              <a:buClr>
                <a:schemeClr val="dk1"/>
              </a:buClr>
              <a:buSzPts val="1100"/>
            </a:pPr>
            <a:r>
              <a:rPr lang="es-ES" sz="1400" dirty="0">
                <a:solidFill>
                  <a:schemeClr val="dk1"/>
                </a:solidFill>
                <a:hlinkClick r:id="rId3"/>
              </a:rPr>
              <a:t>http://thecatapi.com/docs.html</a:t>
            </a:r>
            <a:endParaRPr lang="es-ES" sz="1400" dirty="0">
              <a:solidFill>
                <a:schemeClr val="dk1"/>
              </a:solidFill>
            </a:endParaRPr>
          </a:p>
          <a:p>
            <a:pPr marL="742950" lvl="1" indent="-285750" algn="just">
              <a:buClr>
                <a:schemeClr val="dk1"/>
              </a:buClr>
              <a:buSzPts val="1100"/>
            </a:pPr>
            <a:r>
              <a:rPr lang="es-ES" sz="1400" dirty="0">
                <a:solidFill>
                  <a:schemeClr val="dk1"/>
                </a:solidFill>
              </a:rPr>
              <a:t>Obtener un </a:t>
            </a:r>
            <a:r>
              <a:rPr lang="es-ES" sz="1400" dirty="0" err="1">
                <a:solidFill>
                  <a:schemeClr val="dk1"/>
                </a:solidFill>
              </a:rPr>
              <a:t>xml</a:t>
            </a:r>
            <a:r>
              <a:rPr lang="es-ES" sz="1400" dirty="0">
                <a:solidFill>
                  <a:schemeClr val="dk1"/>
                </a:solidFill>
              </a:rPr>
              <a:t> con 20 gatos aleatorios:</a:t>
            </a:r>
          </a:p>
          <a:p>
            <a:pPr marL="1200150" lvl="2" indent="-285750" algn="just">
              <a:buClr>
                <a:schemeClr val="dk1"/>
              </a:buClr>
              <a:buSzPts val="1100"/>
            </a:pPr>
            <a:r>
              <a:rPr lang="es-ES" sz="1200" dirty="0">
                <a:solidFill>
                  <a:schemeClr val="dk1"/>
                </a:solidFill>
                <a:hlinkClick r:id="rId4"/>
              </a:rPr>
              <a:t>http://thecatapi.com/api/images/get?format=xml&amp;results_per_page=20</a:t>
            </a:r>
            <a:r>
              <a:rPr lang="es-ES" sz="1200" dirty="0">
                <a:solidFill>
                  <a:schemeClr val="dk1"/>
                </a:solidFill>
              </a:rPr>
              <a:t> </a:t>
            </a:r>
            <a:endParaRPr lang="es-ES" sz="1600" dirty="0">
              <a:solidFill>
                <a:schemeClr val="dk1"/>
              </a:solidFill>
            </a:endParaRPr>
          </a:p>
          <a:p>
            <a:pPr marL="742950" lvl="1" indent="-285750" algn="just">
              <a:buClr>
                <a:schemeClr val="dk1"/>
              </a:buClr>
              <a:buSzPts val="1100"/>
            </a:pPr>
            <a:r>
              <a:rPr lang="es-ES" sz="1400" dirty="0">
                <a:solidFill>
                  <a:schemeClr val="dk1"/>
                </a:solidFill>
              </a:rPr>
              <a:t>Obtener un gif aleatorio (sólo la fuente)</a:t>
            </a:r>
          </a:p>
          <a:p>
            <a:pPr marL="1200150" lvl="2" indent="-285750" algn="just">
              <a:buClr>
                <a:schemeClr val="dk1"/>
              </a:buClr>
              <a:buSzPts val="1100"/>
            </a:pPr>
            <a:r>
              <a:rPr lang="es-ES" sz="1200" dirty="0">
                <a:solidFill>
                  <a:schemeClr val="dk1"/>
                </a:solidFill>
                <a:hlinkClick r:id="rId5"/>
              </a:rPr>
              <a:t>http://thecatapi.com/api/images/get?format=src&amp;type=gif</a:t>
            </a:r>
            <a:r>
              <a:rPr lang="es-ES" sz="1200" dirty="0">
                <a:solidFill>
                  <a:schemeClr val="dk1"/>
                </a:solidFill>
              </a:rPr>
              <a:t> </a:t>
            </a:r>
          </a:p>
        </p:txBody>
      </p:sp>
    </p:spTree>
    <p:extLst>
      <p:ext uri="{BB962C8B-B14F-4D97-AF65-F5344CB8AC3E}">
        <p14:creationId xmlns:p14="http://schemas.microsoft.com/office/powerpoint/2010/main" val="36423418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cURL</a:t>
            </a:r>
            <a:endParaRPr dirty="0"/>
          </a:p>
        </p:txBody>
      </p:sp>
      <p:sp>
        <p:nvSpPr>
          <p:cNvPr id="2" name="Google Shape;192;p31">
            <a:extLst>
              <a:ext uri="{FF2B5EF4-FFF2-40B4-BE49-F238E27FC236}">
                <a16:creationId xmlns:a16="http://schemas.microsoft.com/office/drawing/2014/main" id="{79F59601-B55F-0307-DD2C-9B220E6D5A0C}"/>
              </a:ext>
            </a:extLst>
          </p:cNvPr>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285750" indent="-285750" algn="just">
              <a:buClr>
                <a:schemeClr val="dk1"/>
              </a:buClr>
              <a:buSzPts val="1100"/>
            </a:pPr>
            <a:r>
              <a:rPr lang="es-ES" sz="1400" dirty="0" err="1">
                <a:solidFill>
                  <a:schemeClr val="dk1"/>
                </a:solidFill>
              </a:rPr>
              <a:t>cURL</a:t>
            </a:r>
            <a:r>
              <a:rPr lang="es-ES" sz="1400" dirty="0">
                <a:solidFill>
                  <a:schemeClr val="dk1"/>
                </a:solidFill>
              </a:rPr>
              <a:t> es una orden UNIX para intercambio de información mediante el protocolo HTTP</a:t>
            </a:r>
          </a:p>
          <a:p>
            <a:pPr marL="742950" lvl="1" indent="-285750" algn="just">
              <a:buClr>
                <a:schemeClr val="dk1"/>
              </a:buClr>
              <a:buSzPts val="1100"/>
            </a:pPr>
            <a:r>
              <a:rPr lang="es-ES" sz="1400" dirty="0">
                <a:solidFill>
                  <a:schemeClr val="dk1"/>
                </a:solidFill>
              </a:rPr>
              <a:t>Es un modo rápido y efectivo de probar servicios web manualmente</a:t>
            </a:r>
          </a:p>
          <a:p>
            <a:pPr marL="0" indent="0" algn="just">
              <a:buClr>
                <a:schemeClr val="dk1"/>
              </a:buClr>
              <a:buSzPts val="1100"/>
              <a:buNone/>
            </a:pPr>
            <a:endParaRPr lang="es-ES" sz="1400" dirty="0">
              <a:solidFill>
                <a:schemeClr val="dk1"/>
              </a:solidFill>
            </a:endParaRPr>
          </a:p>
          <a:p>
            <a:pPr marL="285750" indent="-285750" algn="just">
              <a:buClr>
                <a:schemeClr val="dk1"/>
              </a:buClr>
              <a:buSzPts val="1100"/>
            </a:pPr>
            <a:r>
              <a:rPr lang="es-ES" sz="1400" dirty="0">
                <a:solidFill>
                  <a:schemeClr val="dk1"/>
                </a:solidFill>
              </a:rPr>
              <a:t>Sintaxis</a:t>
            </a:r>
          </a:p>
          <a:p>
            <a:pPr marL="0" indent="0" algn="just">
              <a:buClr>
                <a:schemeClr val="dk1"/>
              </a:buClr>
              <a:buSzPts val="1100"/>
              <a:buNone/>
            </a:pPr>
            <a:r>
              <a:rPr lang="es-ES" sz="1400" dirty="0">
                <a:solidFill>
                  <a:schemeClr val="dk1"/>
                </a:solidFill>
              </a:rPr>
              <a:t>	</a:t>
            </a:r>
            <a:r>
              <a:rPr lang="es-ES" sz="1400" dirty="0" err="1">
                <a:solidFill>
                  <a:schemeClr val="dk1"/>
                </a:solidFill>
              </a:rPr>
              <a:t>curl</a:t>
            </a:r>
            <a:r>
              <a:rPr lang="es-ES" sz="1400" dirty="0">
                <a:solidFill>
                  <a:schemeClr val="dk1"/>
                </a:solidFill>
              </a:rPr>
              <a:t> [opciones] '</a:t>
            </a:r>
            <a:r>
              <a:rPr lang="es-ES" sz="1400" dirty="0" err="1">
                <a:solidFill>
                  <a:schemeClr val="dk1"/>
                </a:solidFill>
              </a:rPr>
              <a:t>url</a:t>
            </a:r>
            <a:r>
              <a:rPr lang="es-ES" sz="1400" dirty="0">
                <a:solidFill>
                  <a:schemeClr val="dk1"/>
                </a:solidFill>
              </a:rPr>
              <a:t>’</a:t>
            </a:r>
          </a:p>
          <a:p>
            <a:pPr marL="0" indent="0" algn="just">
              <a:buClr>
                <a:schemeClr val="dk1"/>
              </a:buClr>
              <a:buSzPts val="1100"/>
              <a:buNone/>
            </a:pPr>
            <a:r>
              <a:rPr lang="es-ES" sz="1400" dirty="0">
                <a:solidFill>
                  <a:schemeClr val="dk1"/>
                </a:solidFill>
              </a:rPr>
              <a:t>	opciones</a:t>
            </a:r>
          </a:p>
          <a:p>
            <a:pPr marL="0" indent="0" algn="just">
              <a:buClr>
                <a:schemeClr val="dk1"/>
              </a:buClr>
              <a:buSzPts val="1100"/>
              <a:buNone/>
            </a:pPr>
            <a:r>
              <a:rPr lang="es-ES" sz="1400" dirty="0">
                <a:solidFill>
                  <a:schemeClr val="dk1"/>
                </a:solidFill>
              </a:rPr>
              <a:t>		--</a:t>
            </a:r>
            <a:r>
              <a:rPr lang="es-ES" sz="1400" dirty="0" err="1">
                <a:solidFill>
                  <a:schemeClr val="dk1"/>
                </a:solidFill>
              </a:rPr>
              <a:t>request</a:t>
            </a:r>
            <a:r>
              <a:rPr lang="es-ES" sz="1400" dirty="0">
                <a:solidFill>
                  <a:schemeClr val="dk1"/>
                </a:solidFill>
              </a:rPr>
              <a:t> 'tipo' (GET, POST, UPDATE, DELETE)</a:t>
            </a:r>
          </a:p>
          <a:p>
            <a:pPr marL="0" indent="0" algn="just">
              <a:buClr>
                <a:schemeClr val="dk1"/>
              </a:buClr>
              <a:buSzPts val="1100"/>
              <a:buNone/>
            </a:pPr>
            <a:r>
              <a:rPr lang="es-ES" sz="1400" dirty="0">
                <a:solidFill>
                  <a:schemeClr val="dk1"/>
                </a:solidFill>
              </a:rPr>
              <a:t>		--</a:t>
            </a:r>
            <a:r>
              <a:rPr lang="es-ES" sz="1400" dirty="0" err="1">
                <a:solidFill>
                  <a:schemeClr val="dk1"/>
                </a:solidFill>
              </a:rPr>
              <a:t>header</a:t>
            </a:r>
            <a:r>
              <a:rPr lang="es-ES" sz="1400" dirty="0">
                <a:solidFill>
                  <a:schemeClr val="dk1"/>
                </a:solidFill>
              </a:rPr>
              <a:t> 'cabecera’</a:t>
            </a:r>
          </a:p>
          <a:p>
            <a:pPr marL="0" indent="0" algn="just">
              <a:buClr>
                <a:schemeClr val="dk1"/>
              </a:buClr>
              <a:buSzPts val="1100"/>
              <a:buNone/>
            </a:pPr>
            <a:r>
              <a:rPr lang="es-ES" sz="1400" dirty="0">
                <a:solidFill>
                  <a:schemeClr val="dk1"/>
                </a:solidFill>
              </a:rPr>
              <a:t>		-k evita uso de certificados</a:t>
            </a:r>
          </a:p>
          <a:p>
            <a:pPr marL="0" indent="0" algn="just">
              <a:buClr>
                <a:schemeClr val="dk1"/>
              </a:buClr>
              <a:buSzPts val="1100"/>
              <a:buNone/>
            </a:pPr>
            <a:r>
              <a:rPr lang="es-ES" sz="1400" dirty="0">
                <a:solidFill>
                  <a:schemeClr val="dk1"/>
                </a:solidFill>
              </a:rPr>
              <a:t>		--data 'datos adicionales’</a:t>
            </a:r>
          </a:p>
          <a:p>
            <a:pPr marL="0" indent="0" algn="just">
              <a:buClr>
                <a:schemeClr val="dk1"/>
              </a:buClr>
              <a:buSzPts val="1100"/>
              <a:buNone/>
            </a:pPr>
            <a:endParaRPr lang="es-ES" sz="1400" dirty="0">
              <a:solidFill>
                <a:schemeClr val="dk1"/>
              </a:solidFill>
            </a:endParaRPr>
          </a:p>
          <a:p>
            <a:pPr marL="285750" indent="-285750" algn="just">
              <a:buClr>
                <a:schemeClr val="dk1"/>
              </a:buClr>
              <a:buSzPts val="1100"/>
            </a:pPr>
            <a:r>
              <a:rPr lang="es-ES" sz="1400" dirty="0">
                <a:solidFill>
                  <a:schemeClr val="dk1"/>
                </a:solidFill>
              </a:rPr>
              <a:t>ejemplo: </a:t>
            </a:r>
            <a:r>
              <a:rPr lang="en-US" sz="1400" dirty="0">
                <a:solidFill>
                  <a:schemeClr val="dk1"/>
                </a:solidFill>
              </a:rPr>
              <a:t>curl https://api.thecatapi.com/v1/images/search</a:t>
            </a:r>
            <a:r>
              <a:rPr lang="es-ES" sz="1400" dirty="0">
                <a:solidFill>
                  <a:schemeClr val="dk1"/>
                </a:solidFill>
              </a:rPr>
              <a:t> </a:t>
            </a:r>
          </a:p>
        </p:txBody>
      </p:sp>
    </p:spTree>
    <p:extLst>
      <p:ext uri="{BB962C8B-B14F-4D97-AF65-F5344CB8AC3E}">
        <p14:creationId xmlns:p14="http://schemas.microsoft.com/office/powerpoint/2010/main" val="4164351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Postman</a:t>
            </a:r>
            <a:endParaRPr dirty="0"/>
          </a:p>
        </p:txBody>
      </p:sp>
      <p:sp>
        <p:nvSpPr>
          <p:cNvPr id="2" name="Google Shape;192;p31">
            <a:extLst>
              <a:ext uri="{FF2B5EF4-FFF2-40B4-BE49-F238E27FC236}">
                <a16:creationId xmlns:a16="http://schemas.microsoft.com/office/drawing/2014/main" id="{79F59601-B55F-0307-DD2C-9B220E6D5A0C}"/>
              </a:ext>
            </a:extLst>
          </p:cNvPr>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algn="just">
              <a:buClr>
                <a:schemeClr val="dk1"/>
              </a:buClr>
              <a:buSzPts val="1100"/>
            </a:pPr>
            <a:r>
              <a:rPr lang="es-ES" sz="1400" dirty="0">
                <a:solidFill>
                  <a:schemeClr val="dk1"/>
                </a:solidFill>
              </a:rPr>
              <a:t>Aplicación para desarrollo de </a:t>
            </a:r>
            <a:r>
              <a:rPr lang="es-ES" sz="1400" dirty="0" err="1">
                <a:solidFill>
                  <a:schemeClr val="dk1"/>
                </a:solidFill>
              </a:rPr>
              <a:t>APIs</a:t>
            </a:r>
            <a:endParaRPr lang="es-ES" sz="1400" dirty="0">
              <a:solidFill>
                <a:schemeClr val="dk1"/>
              </a:solidFill>
            </a:endParaRPr>
          </a:p>
          <a:p>
            <a:pPr lvl="1" algn="just">
              <a:buClr>
                <a:schemeClr val="dk1"/>
              </a:buClr>
              <a:buSzPts val="1100"/>
            </a:pPr>
            <a:r>
              <a:rPr lang="es-CO" sz="1400" dirty="0">
                <a:solidFill>
                  <a:schemeClr val="dk1"/>
                </a:solidFill>
              </a:rPr>
              <a:t>Open </a:t>
            </a:r>
            <a:r>
              <a:rPr lang="es-CO" sz="1400" dirty="0" err="1">
                <a:solidFill>
                  <a:schemeClr val="dk1"/>
                </a:solidFill>
              </a:rPr>
              <a:t>source</a:t>
            </a:r>
            <a:endParaRPr lang="es-CO" sz="1400" dirty="0">
              <a:solidFill>
                <a:schemeClr val="dk1"/>
              </a:solidFill>
            </a:endParaRPr>
          </a:p>
          <a:p>
            <a:pPr lvl="1" algn="just">
              <a:buClr>
                <a:schemeClr val="dk1"/>
              </a:buClr>
              <a:buSzPts val="1100"/>
            </a:pPr>
            <a:r>
              <a:rPr lang="es-ES" sz="1400" dirty="0">
                <a:solidFill>
                  <a:schemeClr val="dk1"/>
                </a:solidFill>
              </a:rPr>
              <a:t>Testeo similar a </a:t>
            </a:r>
            <a:r>
              <a:rPr lang="es-ES" sz="1400" dirty="0" err="1">
                <a:solidFill>
                  <a:schemeClr val="dk1"/>
                </a:solidFill>
              </a:rPr>
              <a:t>cURL</a:t>
            </a:r>
            <a:r>
              <a:rPr lang="es-ES" sz="1400" dirty="0">
                <a:solidFill>
                  <a:schemeClr val="dk1"/>
                </a:solidFill>
              </a:rPr>
              <a:t> pero en GUI</a:t>
            </a:r>
          </a:p>
          <a:p>
            <a:pPr lvl="1" algn="just">
              <a:buClr>
                <a:schemeClr val="dk1"/>
              </a:buClr>
              <a:buSzPts val="1100"/>
            </a:pPr>
            <a:r>
              <a:rPr lang="es-CO" sz="1400" dirty="0">
                <a:solidFill>
                  <a:schemeClr val="dk1"/>
                </a:solidFill>
              </a:rPr>
              <a:t>https://www.getpostman.com</a:t>
            </a:r>
            <a:endParaRPr lang="es-ES" sz="1400" dirty="0">
              <a:solidFill>
                <a:schemeClr val="dk1"/>
              </a:solidFill>
            </a:endParaRPr>
          </a:p>
        </p:txBody>
      </p:sp>
    </p:spTree>
    <p:extLst>
      <p:ext uri="{BB962C8B-B14F-4D97-AF65-F5344CB8AC3E}">
        <p14:creationId xmlns:p14="http://schemas.microsoft.com/office/powerpoint/2010/main" val="37724377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1066"/>
        <p:cNvGrpSpPr/>
        <p:nvPr/>
      </p:nvGrpSpPr>
      <p:grpSpPr>
        <a:xfrm>
          <a:off x="0" y="0"/>
          <a:ext cx="0" cy="0"/>
          <a:chOff x="0" y="0"/>
          <a:chExt cx="0" cy="0"/>
        </a:xfrm>
      </p:grpSpPr>
      <p:pic>
        <p:nvPicPr>
          <p:cNvPr id="11067" name="Google Shape;11067;p82">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p:sld>
</file>

<file path=ppt/theme/theme1.xml><?xml version="1.0" encoding="utf-8"?>
<a:theme xmlns:a="http://schemas.openxmlformats.org/drawingml/2006/main" name="Management Consulting Toolkit by Slidesgo">
  <a:themeElements>
    <a:clrScheme name="Simple Light">
      <a:dk1>
        <a:srgbClr val="000000"/>
      </a:dk1>
      <a:lt1>
        <a:srgbClr val="FFFFFF"/>
      </a:lt1>
      <a:dk2>
        <a:srgbClr val="4A8CFF"/>
      </a:dk2>
      <a:lt2>
        <a:srgbClr val="EFEFEF"/>
      </a:lt2>
      <a:accent1>
        <a:srgbClr val="003BA3"/>
      </a:accent1>
      <a:accent2>
        <a:srgbClr val="000000"/>
      </a:accent2>
      <a:accent3>
        <a:srgbClr val="4A8CFF"/>
      </a:accent3>
      <a:accent4>
        <a:srgbClr val="EFEFEF"/>
      </a:accent4>
      <a:accent5>
        <a:srgbClr val="003BA3"/>
      </a:accent5>
      <a:accent6>
        <a:srgbClr val="000000"/>
      </a:accent6>
      <a:hlink>
        <a:srgbClr val="003BA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JU Grå">
  <a:themeElements>
    <a:clrScheme name="JU">
      <a:dk1>
        <a:srgbClr val="000000"/>
      </a:dk1>
      <a:lt1>
        <a:srgbClr val="FFFFFF"/>
      </a:lt1>
      <a:dk2>
        <a:srgbClr val="003865"/>
      </a:dk2>
      <a:lt2>
        <a:srgbClr val="EBEBDF"/>
      </a:lt2>
      <a:accent1>
        <a:srgbClr val="961B81"/>
      </a:accent1>
      <a:accent2>
        <a:srgbClr val="FFB500"/>
      </a:accent2>
      <a:accent3>
        <a:srgbClr val="003865"/>
      </a:accent3>
      <a:accent4>
        <a:srgbClr val="EBEBDF"/>
      </a:accent4>
      <a:accent5>
        <a:srgbClr val="009CDE"/>
      </a:accent5>
      <a:accent6>
        <a:srgbClr val="007A33"/>
      </a:accent6>
      <a:hlink>
        <a:srgbClr val="EBEBDF"/>
      </a:hlink>
      <a:folHlink>
        <a:srgbClr val="961B81"/>
      </a:folHlink>
    </a:clrScheme>
    <a:fontScheme name="Custom 1">
      <a:majorFont>
        <a:latin typeface="Arial"/>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1755</TotalTime>
  <Words>2516</Words>
  <Application>Microsoft Office PowerPoint</Application>
  <PresentationFormat>Presentación en pantalla (16:9)</PresentationFormat>
  <Paragraphs>211</Paragraphs>
  <Slides>39</Slides>
  <Notes>38</Notes>
  <HiddenSlides>0</HiddenSlides>
  <MMClips>0</MMClips>
  <ScaleCrop>false</ScaleCrop>
  <HeadingPairs>
    <vt:vector size="6" baseType="variant">
      <vt:variant>
        <vt:lpstr>Fuentes usadas</vt:lpstr>
      </vt:variant>
      <vt:variant>
        <vt:i4>12</vt:i4>
      </vt:variant>
      <vt:variant>
        <vt:lpstr>Tema</vt:lpstr>
      </vt:variant>
      <vt:variant>
        <vt:i4>3</vt:i4>
      </vt:variant>
      <vt:variant>
        <vt:lpstr>Títulos de diapositiva</vt:lpstr>
      </vt:variant>
      <vt:variant>
        <vt:i4>39</vt:i4>
      </vt:variant>
    </vt:vector>
  </HeadingPairs>
  <TitlesOfParts>
    <vt:vector size="54" baseType="lpstr">
      <vt:lpstr>-apple-system</vt:lpstr>
      <vt:lpstr>Neuemontreal</vt:lpstr>
      <vt:lpstr>Montserrat</vt:lpstr>
      <vt:lpstr>DejaVuSerif</vt:lpstr>
      <vt:lpstr>Barlow</vt:lpstr>
      <vt:lpstr>Georgia</vt:lpstr>
      <vt:lpstr>Calibri</vt:lpstr>
      <vt:lpstr>Proxima Nova Semibold</vt:lpstr>
      <vt:lpstr>Arial</vt:lpstr>
      <vt:lpstr>Proxima Nova</vt:lpstr>
      <vt:lpstr>Neutra Text</vt:lpstr>
      <vt:lpstr>source-serif-pro</vt:lpstr>
      <vt:lpstr>Management Consulting Toolkit by Slidesgo</vt:lpstr>
      <vt:lpstr>Slidesgo Final Pages</vt:lpstr>
      <vt:lpstr>JU Grå</vt:lpstr>
      <vt:lpstr>Presentación de PowerPoint</vt:lpstr>
      <vt:lpstr>Servicios Web (web services)</vt:lpstr>
      <vt:lpstr>Servicios Web (web services)</vt:lpstr>
      <vt:lpstr>API</vt:lpstr>
      <vt:lpstr>API</vt:lpstr>
      <vt:lpstr>API</vt:lpstr>
      <vt:lpstr>API</vt:lpstr>
      <vt:lpstr>API</vt:lpstr>
      <vt:lpstr>¿Cómo funciona?</vt:lpstr>
      <vt:lpstr>Application programming interface</vt:lpstr>
      <vt:lpstr>Ejemplos de APIs</vt:lpstr>
      <vt:lpstr>Tipos de API</vt:lpstr>
      <vt:lpstr>Tipos de API</vt:lpstr>
      <vt:lpstr>Tipos de API</vt:lpstr>
      <vt:lpstr>Presentación de PowerPoint</vt:lpstr>
      <vt:lpstr>Presentación de PowerPoint</vt:lpstr>
      <vt:lpstr>Servicio web</vt:lpstr>
      <vt:lpstr>Servicio web: estandares empleados</vt:lpstr>
      <vt:lpstr>SOAP: Simple Object Access Protocol</vt:lpstr>
      <vt:lpstr>SOAP: Simple Object Access Protocol</vt:lpstr>
      <vt:lpstr>REST: Representational State Transfer</vt:lpstr>
      <vt:lpstr>REST: Representational State Transfer</vt:lpstr>
      <vt:lpstr>REST: Representational State Transfer</vt:lpstr>
      <vt:lpstr>REST</vt:lpstr>
      <vt:lpstr>REST: URI</vt:lpstr>
      <vt:lpstr>REST: URI</vt:lpstr>
      <vt:lpstr>REST: Recurso</vt:lpstr>
      <vt:lpstr>REST</vt:lpstr>
      <vt:lpstr>SOAP vs REST</vt:lpstr>
      <vt:lpstr>JSON</vt:lpstr>
      <vt:lpstr>JSON</vt:lpstr>
      <vt:lpstr>JSON</vt:lpstr>
      <vt:lpstr>Uso de los servicios web</vt:lpstr>
      <vt:lpstr>Uso de los servicios web</vt:lpstr>
      <vt:lpstr>Autenticación</vt:lpstr>
      <vt:lpstr>Navegadores</vt:lpstr>
      <vt:lpstr>cURL</vt:lpstr>
      <vt:lpstr>Postman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Probabilidades</dc:title>
  <cp:lastModifiedBy>Norbey Muñoz</cp:lastModifiedBy>
  <cp:revision>2</cp:revision>
  <dcterms:modified xsi:type="dcterms:W3CDTF">2026-09-02T16:08:57Z</dcterms:modified>
</cp:coreProperties>
</file>